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grandir" panose="020B0604020202020204" charset="0"/>
      <p:regular r:id="rId11"/>
    </p:embeddedFont>
    <p:embeddedFont>
      <p:font typeface="Agrandir Bold" panose="020B0604020202020204" charset="0"/>
      <p:regular r:id="rId12"/>
    </p:embeddedFont>
    <p:embeddedFont>
      <p:font typeface="Anton"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1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2756">
                <a:alpha val="100000"/>
              </a:srgbClr>
            </a:gs>
            <a:gs pos="100000">
              <a:srgbClr val="1E527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698670" y="2828936"/>
            <a:ext cx="3590163" cy="8229600"/>
          </a:xfrm>
          <a:custGeom>
            <a:avLst/>
            <a:gdLst/>
            <a:ahLst/>
            <a:cxnLst/>
            <a:rect l="l" t="t" r="r" b="b"/>
            <a:pathLst>
              <a:path w="3590163" h="8229600">
                <a:moveTo>
                  <a:pt x="0" y="0"/>
                </a:moveTo>
                <a:lnTo>
                  <a:pt x="3590163" y="0"/>
                </a:lnTo>
                <a:lnTo>
                  <a:pt x="3590163" y="8229600"/>
                </a:lnTo>
                <a:lnTo>
                  <a:pt x="0" y="8229600"/>
                </a:lnTo>
                <a:lnTo>
                  <a:pt x="0" y="0"/>
                </a:lnTo>
                <a:close/>
              </a:path>
            </a:pathLst>
          </a:custGeom>
          <a:blipFill>
            <a:blip r:embed="rId2">
              <a:alphaModFix amt="63000"/>
            </a:blip>
            <a:stretch>
              <a:fillRect/>
            </a:stretch>
          </a:blipFill>
        </p:spPr>
      </p:sp>
      <p:sp>
        <p:nvSpPr>
          <p:cNvPr id="3" name="Freeform 3"/>
          <p:cNvSpPr/>
          <p:nvPr/>
        </p:nvSpPr>
        <p:spPr>
          <a:xfrm flipH="1">
            <a:off x="0" y="2828936"/>
            <a:ext cx="3590163" cy="8229600"/>
          </a:xfrm>
          <a:custGeom>
            <a:avLst/>
            <a:gdLst/>
            <a:ahLst/>
            <a:cxnLst/>
            <a:rect l="l" t="t" r="r" b="b"/>
            <a:pathLst>
              <a:path w="3590163" h="8229600">
                <a:moveTo>
                  <a:pt x="3590163" y="0"/>
                </a:moveTo>
                <a:lnTo>
                  <a:pt x="0" y="0"/>
                </a:lnTo>
                <a:lnTo>
                  <a:pt x="0" y="8229600"/>
                </a:lnTo>
                <a:lnTo>
                  <a:pt x="3590163" y="8229600"/>
                </a:lnTo>
                <a:lnTo>
                  <a:pt x="3590163" y="0"/>
                </a:lnTo>
                <a:close/>
              </a:path>
            </a:pathLst>
          </a:custGeom>
          <a:blipFill>
            <a:blip r:embed="rId2">
              <a:alphaModFix amt="63000"/>
            </a:blip>
            <a:stretch>
              <a:fillRect/>
            </a:stretch>
          </a:blipFill>
        </p:spPr>
      </p:sp>
      <p:sp>
        <p:nvSpPr>
          <p:cNvPr id="4" name="TextBox 4"/>
          <p:cNvSpPr txBox="1"/>
          <p:nvPr/>
        </p:nvSpPr>
        <p:spPr>
          <a:xfrm>
            <a:off x="4189405" y="3705128"/>
            <a:ext cx="9909190" cy="5014805"/>
          </a:xfrm>
          <a:prstGeom prst="rect">
            <a:avLst/>
          </a:prstGeom>
        </p:spPr>
        <p:txBody>
          <a:bodyPr lIns="0" tIns="0" rIns="0" bIns="0" rtlCol="0" anchor="t">
            <a:spAutoFit/>
          </a:bodyPr>
          <a:lstStyle/>
          <a:p>
            <a:pPr marL="0" lvl="0" indent="0" algn="ctr">
              <a:lnSpc>
                <a:spcPts val="9802"/>
              </a:lnSpc>
            </a:pPr>
            <a:r>
              <a:rPr lang="en-US" sz="9425">
                <a:solidFill>
                  <a:srgbClr val="FFFFFF"/>
                </a:solidFill>
                <a:latin typeface="Anton"/>
                <a:ea typeface="Anton"/>
                <a:cs typeface="Anton"/>
                <a:sym typeface="Anton"/>
              </a:rPr>
              <a:t>PREDICTIVE MAINTENANCE AND PROCESS INTELLIGENCE</a:t>
            </a:r>
          </a:p>
        </p:txBody>
      </p:sp>
      <p:sp>
        <p:nvSpPr>
          <p:cNvPr id="5" name="TextBox 5"/>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ARYA TEJA | GROUP-1</a:t>
            </a:r>
          </a:p>
        </p:txBody>
      </p:sp>
      <p:sp>
        <p:nvSpPr>
          <p:cNvPr id="6" name="TextBox 6"/>
          <p:cNvSpPr txBox="1"/>
          <p:nvPr/>
        </p:nvSpPr>
        <p:spPr>
          <a:xfrm>
            <a:off x="6240436" y="9248775"/>
            <a:ext cx="5378501" cy="338709"/>
          </a:xfrm>
          <a:prstGeom prst="rect">
            <a:avLst/>
          </a:prstGeom>
        </p:spPr>
        <p:txBody>
          <a:bodyPr lIns="0" tIns="0" rIns="0" bIns="0" rtlCol="0" anchor="t">
            <a:spAutoFit/>
          </a:bodyPr>
          <a:lstStyle/>
          <a:p>
            <a:pPr marL="0" lvl="0" indent="0" algn="ctr">
              <a:lnSpc>
                <a:spcPts val="1248"/>
              </a:lnSpc>
              <a:spcBef>
                <a:spcPct val="0"/>
              </a:spcBef>
            </a:pPr>
            <a:r>
              <a:rPr lang="en-US" sz="1200" b="1">
                <a:solidFill>
                  <a:srgbClr val="FFFFFF"/>
                </a:solidFill>
                <a:latin typeface="Agrandir Bold"/>
                <a:ea typeface="Agrandir Bold"/>
                <a:cs typeface="Agrandir Bold"/>
                <a:sym typeface="Agrandir Bold"/>
              </a:rPr>
              <a:t>MACHINE LEARNING-BASED MODEL EVALUATION AND COMPARISON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sp>
        <p:nvSpPr>
          <p:cNvPr id="6" name="Freeform 6"/>
          <p:cNvSpPr/>
          <p:nvPr/>
        </p:nvSpPr>
        <p:spPr>
          <a:xfrm>
            <a:off x="685303" y="1922369"/>
            <a:ext cx="6414481" cy="8223693"/>
          </a:xfrm>
          <a:custGeom>
            <a:avLst/>
            <a:gdLst/>
            <a:ahLst/>
            <a:cxnLst/>
            <a:rect l="l" t="t" r="r" b="b"/>
            <a:pathLst>
              <a:path w="6414481" h="8223693">
                <a:moveTo>
                  <a:pt x="0" y="0"/>
                </a:moveTo>
                <a:lnTo>
                  <a:pt x="6414480" y="0"/>
                </a:lnTo>
                <a:lnTo>
                  <a:pt x="6414480" y="8223693"/>
                </a:lnTo>
                <a:lnTo>
                  <a:pt x="0" y="8223693"/>
                </a:lnTo>
                <a:lnTo>
                  <a:pt x="0" y="0"/>
                </a:lnTo>
                <a:close/>
              </a:path>
            </a:pathLst>
          </a:custGeom>
          <a:blipFill>
            <a:blip r:embed="rId3"/>
            <a:stretch>
              <a:fillRect/>
            </a:stretch>
          </a:blipFill>
        </p:spPr>
      </p:sp>
      <p:sp>
        <p:nvSpPr>
          <p:cNvPr id="7" name="TextBox 7"/>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8" name="TextBox 8"/>
          <p:cNvSpPr txBox="1"/>
          <p:nvPr/>
        </p:nvSpPr>
        <p:spPr>
          <a:xfrm>
            <a:off x="6328986" y="9239250"/>
            <a:ext cx="5378501" cy="261828"/>
          </a:xfrm>
          <a:prstGeom prst="rect">
            <a:avLst/>
          </a:prstGeom>
        </p:spPr>
        <p:txBody>
          <a:bodyPr lIns="0" tIns="0" rIns="0" bIns="0" rtlCol="0" anchor="t">
            <a:spAutoFit/>
          </a:bodyPr>
          <a:lstStyle/>
          <a:p>
            <a:pPr marL="0" lvl="0" indent="0" algn="ctr">
              <a:lnSpc>
                <a:spcPts val="1700"/>
              </a:lnSpc>
              <a:spcBef>
                <a:spcPct val="0"/>
              </a:spcBef>
            </a:pPr>
            <a:r>
              <a:rPr lang="en-US" sz="1635" b="1">
                <a:solidFill>
                  <a:srgbClr val="050056"/>
                </a:solidFill>
                <a:latin typeface="Agrandir Bold"/>
                <a:ea typeface="Agrandir Bold"/>
                <a:cs typeface="Agrandir Bold"/>
                <a:sym typeface="Agrandir Bold"/>
              </a:rPr>
              <a:t>WWW.REALLYGREATSITE.COM</a:t>
            </a:r>
          </a:p>
        </p:txBody>
      </p:sp>
      <p:sp>
        <p:nvSpPr>
          <p:cNvPr id="9" name="TextBox 9"/>
          <p:cNvSpPr txBox="1"/>
          <p:nvPr/>
        </p:nvSpPr>
        <p:spPr>
          <a:xfrm>
            <a:off x="7770886" y="3021500"/>
            <a:ext cx="7561347" cy="896235"/>
          </a:xfrm>
          <a:prstGeom prst="rect">
            <a:avLst/>
          </a:prstGeom>
        </p:spPr>
        <p:txBody>
          <a:bodyPr lIns="0" tIns="0" rIns="0" bIns="0" rtlCol="0" anchor="t">
            <a:spAutoFit/>
          </a:bodyPr>
          <a:lstStyle/>
          <a:p>
            <a:pPr marL="0" lvl="0" indent="0" algn="l">
              <a:lnSpc>
                <a:spcPts val="6870"/>
              </a:lnSpc>
            </a:pPr>
            <a:r>
              <a:rPr lang="en-US" sz="6606">
                <a:solidFill>
                  <a:srgbClr val="050056"/>
                </a:solidFill>
                <a:latin typeface="Anton"/>
                <a:ea typeface="Anton"/>
                <a:cs typeface="Anton"/>
                <a:sym typeface="Anton"/>
              </a:rPr>
              <a:t>PROBLEM STATEMENT</a:t>
            </a:r>
          </a:p>
        </p:txBody>
      </p:sp>
      <p:sp>
        <p:nvSpPr>
          <p:cNvPr id="10" name="TextBox 10"/>
          <p:cNvSpPr txBox="1"/>
          <p:nvPr/>
        </p:nvSpPr>
        <p:spPr>
          <a:xfrm>
            <a:off x="7658037" y="4417019"/>
            <a:ext cx="9728642" cy="4345647"/>
          </a:xfrm>
          <a:prstGeom prst="rect">
            <a:avLst/>
          </a:prstGeom>
        </p:spPr>
        <p:txBody>
          <a:bodyPr lIns="0" tIns="0" rIns="0" bIns="0" rtlCol="0" anchor="t">
            <a:spAutoFit/>
          </a:bodyPr>
          <a:lstStyle/>
          <a:p>
            <a:pPr marL="0" lvl="0" indent="0" algn="l">
              <a:lnSpc>
                <a:spcPts val="3419"/>
              </a:lnSpc>
            </a:pPr>
            <a:r>
              <a:rPr lang="en-US" sz="2552">
                <a:solidFill>
                  <a:srgbClr val="050056"/>
                </a:solidFill>
                <a:latin typeface="Agrandir"/>
                <a:ea typeface="Agrandir"/>
                <a:cs typeface="Agrandir"/>
                <a:sym typeface="Agrandir"/>
              </a:rPr>
              <a:t>In predictive maintenance systems, selecting the most reliable and accurate machine learning model is critical for effective decision-making. Model evaluation ensures that predictions are trustworthy and actionable. Without proper evaluation, organizations risk deploying models with poor performance, leading to unexpected equipment failures or unnecessary maintenance costs. A well-evaluated model directly impacts system reliability, operational efficiency, and overall business outcomes by enabling accurate predictions of equipment failures before they occur.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grpSp>
        <p:nvGrpSpPr>
          <p:cNvPr id="6" name="Group 6"/>
          <p:cNvGrpSpPr/>
          <p:nvPr/>
        </p:nvGrpSpPr>
        <p:grpSpPr>
          <a:xfrm>
            <a:off x="2630318" y="4354617"/>
            <a:ext cx="4144557" cy="989754"/>
            <a:chOff x="0" y="0"/>
            <a:chExt cx="1017514" cy="242991"/>
          </a:xfrm>
        </p:grpSpPr>
        <p:sp>
          <p:nvSpPr>
            <p:cNvPr id="7" name="Freeform 7"/>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8" name="TextBox 8"/>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grpSp>
        <p:nvGrpSpPr>
          <p:cNvPr id="9" name="Group 9"/>
          <p:cNvGrpSpPr/>
          <p:nvPr/>
        </p:nvGrpSpPr>
        <p:grpSpPr>
          <a:xfrm>
            <a:off x="2630318" y="4354617"/>
            <a:ext cx="1081897" cy="989754"/>
            <a:chOff x="0" y="0"/>
            <a:chExt cx="265612" cy="242991"/>
          </a:xfrm>
        </p:grpSpPr>
        <p:sp>
          <p:nvSpPr>
            <p:cNvPr id="10" name="Freeform 10"/>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11" name="TextBox 11"/>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grpSp>
        <p:nvGrpSpPr>
          <p:cNvPr id="12" name="Group 12"/>
          <p:cNvGrpSpPr/>
          <p:nvPr/>
        </p:nvGrpSpPr>
        <p:grpSpPr>
          <a:xfrm>
            <a:off x="2630318" y="6692398"/>
            <a:ext cx="4144557" cy="989754"/>
            <a:chOff x="0" y="0"/>
            <a:chExt cx="1017514" cy="242991"/>
          </a:xfrm>
        </p:grpSpPr>
        <p:sp>
          <p:nvSpPr>
            <p:cNvPr id="13" name="Freeform 13"/>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14" name="TextBox 14"/>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grpSp>
        <p:nvGrpSpPr>
          <p:cNvPr id="15" name="Group 15"/>
          <p:cNvGrpSpPr/>
          <p:nvPr/>
        </p:nvGrpSpPr>
        <p:grpSpPr>
          <a:xfrm>
            <a:off x="2630318" y="6692398"/>
            <a:ext cx="1081897" cy="989754"/>
            <a:chOff x="0" y="0"/>
            <a:chExt cx="265612" cy="242991"/>
          </a:xfrm>
        </p:grpSpPr>
        <p:sp>
          <p:nvSpPr>
            <p:cNvPr id="16" name="Freeform 16"/>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17" name="TextBox 17"/>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grpSp>
        <p:nvGrpSpPr>
          <p:cNvPr id="18" name="Group 18"/>
          <p:cNvGrpSpPr/>
          <p:nvPr/>
        </p:nvGrpSpPr>
        <p:grpSpPr>
          <a:xfrm>
            <a:off x="9901292" y="4226143"/>
            <a:ext cx="4144557" cy="989754"/>
            <a:chOff x="0" y="0"/>
            <a:chExt cx="1017514" cy="242991"/>
          </a:xfrm>
        </p:grpSpPr>
        <p:sp>
          <p:nvSpPr>
            <p:cNvPr id="19" name="Freeform 19"/>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20" name="TextBox 20"/>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grpSp>
        <p:nvGrpSpPr>
          <p:cNvPr id="21" name="Group 21"/>
          <p:cNvGrpSpPr/>
          <p:nvPr/>
        </p:nvGrpSpPr>
        <p:grpSpPr>
          <a:xfrm>
            <a:off x="9901292" y="4226143"/>
            <a:ext cx="1081897" cy="989754"/>
            <a:chOff x="0" y="0"/>
            <a:chExt cx="265612" cy="242991"/>
          </a:xfrm>
        </p:grpSpPr>
        <p:sp>
          <p:nvSpPr>
            <p:cNvPr id="22" name="Freeform 22"/>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23" name="TextBox 23"/>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grpSp>
        <p:nvGrpSpPr>
          <p:cNvPr id="24" name="Group 24"/>
          <p:cNvGrpSpPr/>
          <p:nvPr/>
        </p:nvGrpSpPr>
        <p:grpSpPr>
          <a:xfrm>
            <a:off x="10079265" y="6563925"/>
            <a:ext cx="4144557" cy="989754"/>
            <a:chOff x="0" y="0"/>
            <a:chExt cx="1017514" cy="242991"/>
          </a:xfrm>
        </p:grpSpPr>
        <p:sp>
          <p:nvSpPr>
            <p:cNvPr id="25" name="Freeform 25"/>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26" name="TextBox 26"/>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grpSp>
        <p:nvGrpSpPr>
          <p:cNvPr id="27" name="Group 27"/>
          <p:cNvGrpSpPr/>
          <p:nvPr/>
        </p:nvGrpSpPr>
        <p:grpSpPr>
          <a:xfrm>
            <a:off x="10079265" y="6563925"/>
            <a:ext cx="1081897" cy="989754"/>
            <a:chOff x="0" y="0"/>
            <a:chExt cx="265612" cy="242991"/>
          </a:xfrm>
        </p:grpSpPr>
        <p:sp>
          <p:nvSpPr>
            <p:cNvPr id="28" name="Freeform 28"/>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29" name="TextBox 29"/>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sp>
        <p:nvSpPr>
          <p:cNvPr id="30" name="Freeform 30"/>
          <p:cNvSpPr/>
          <p:nvPr/>
        </p:nvSpPr>
        <p:spPr>
          <a:xfrm>
            <a:off x="-1052485" y="912245"/>
            <a:ext cx="4162370" cy="4114800"/>
          </a:xfrm>
          <a:custGeom>
            <a:avLst/>
            <a:gdLst/>
            <a:ahLst/>
            <a:cxnLst/>
            <a:rect l="l" t="t" r="r" b="b"/>
            <a:pathLst>
              <a:path w="4162370" h="411480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1" name="TextBox 31"/>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ML MODEL EVALUATION</a:t>
            </a:r>
          </a:p>
        </p:txBody>
      </p:sp>
      <p:sp>
        <p:nvSpPr>
          <p:cNvPr id="32" name="TextBox 32"/>
          <p:cNvSpPr txBox="1"/>
          <p:nvPr/>
        </p:nvSpPr>
        <p:spPr>
          <a:xfrm>
            <a:off x="6328986" y="9248775"/>
            <a:ext cx="5378501" cy="156774"/>
          </a:xfrm>
          <a:prstGeom prst="rect">
            <a:avLst/>
          </a:prstGeom>
        </p:spPr>
        <p:txBody>
          <a:bodyPr lIns="0" tIns="0" rIns="0" bIns="0" rtlCol="0" anchor="t">
            <a:spAutoFit/>
          </a:bodyPr>
          <a:lstStyle/>
          <a:p>
            <a:pPr marL="0" lvl="0" indent="0" algn="ctr">
              <a:lnSpc>
                <a:spcPts val="1248"/>
              </a:lnSpc>
              <a:spcBef>
                <a:spcPct val="0"/>
              </a:spcBef>
            </a:pPr>
            <a:r>
              <a:rPr lang="en-US" sz="1200" b="1" dirty="0">
                <a:solidFill>
                  <a:schemeClr val="accent1">
                    <a:lumMod val="40000"/>
                    <a:lumOff val="60000"/>
                  </a:schemeClr>
                </a:solidFill>
                <a:latin typeface="Agrandir Bold"/>
                <a:ea typeface="Agrandir Bold"/>
                <a:cs typeface="Agrandir Bold"/>
                <a:sym typeface="Agrandir Bold"/>
              </a:rPr>
              <a:t>WWW.PREDICTIVE-MAINTENANCE.AI</a:t>
            </a:r>
          </a:p>
        </p:txBody>
      </p:sp>
      <p:sp>
        <p:nvSpPr>
          <p:cNvPr id="33" name="TextBox 33"/>
          <p:cNvSpPr txBox="1"/>
          <p:nvPr/>
        </p:nvSpPr>
        <p:spPr>
          <a:xfrm>
            <a:off x="5237563" y="2688655"/>
            <a:ext cx="7561347" cy="892902"/>
          </a:xfrm>
          <a:prstGeom prst="rect">
            <a:avLst/>
          </a:prstGeom>
        </p:spPr>
        <p:txBody>
          <a:bodyPr lIns="0" tIns="0" rIns="0" bIns="0" rtlCol="0" anchor="t">
            <a:spAutoFit/>
          </a:bodyPr>
          <a:lstStyle/>
          <a:p>
            <a:pPr marL="0" lvl="0" indent="0" algn="ctr">
              <a:lnSpc>
                <a:spcPts val="6870"/>
              </a:lnSpc>
            </a:pPr>
            <a:r>
              <a:rPr lang="en-US" sz="6606" dirty="0">
                <a:solidFill>
                  <a:schemeClr val="accent1">
                    <a:lumMod val="40000"/>
                    <a:lumOff val="60000"/>
                  </a:schemeClr>
                </a:solidFill>
                <a:latin typeface="Anton"/>
                <a:ea typeface="Anton"/>
                <a:cs typeface="Anton"/>
                <a:sym typeface="Anton"/>
              </a:rPr>
              <a:t>TECHNOLOGY STACK</a:t>
            </a:r>
          </a:p>
        </p:txBody>
      </p:sp>
      <p:sp>
        <p:nvSpPr>
          <p:cNvPr id="34" name="TextBox 34"/>
          <p:cNvSpPr txBox="1"/>
          <p:nvPr/>
        </p:nvSpPr>
        <p:spPr>
          <a:xfrm>
            <a:off x="4065707" y="4567869"/>
            <a:ext cx="2173187" cy="671551"/>
          </a:xfrm>
          <a:prstGeom prst="rect">
            <a:avLst/>
          </a:prstGeom>
        </p:spPr>
        <p:txBody>
          <a:bodyPr lIns="0" tIns="0" rIns="0" bIns="0" rtlCol="0" anchor="t">
            <a:spAutoFit/>
          </a:bodyPr>
          <a:lstStyle/>
          <a:p>
            <a:pPr marL="0" lvl="0" indent="0" algn="l">
              <a:lnSpc>
                <a:spcPts val="2509"/>
              </a:lnSpc>
            </a:pPr>
            <a:r>
              <a:rPr lang="en-US" sz="1872">
                <a:solidFill>
                  <a:srgbClr val="FFFFFF"/>
                </a:solidFill>
                <a:latin typeface="Agrandir"/>
                <a:ea typeface="Agrandir"/>
                <a:cs typeface="Agrandir"/>
                <a:sym typeface="Agrandir"/>
              </a:rPr>
              <a:t>Python &amp; Scikit-learn</a:t>
            </a:r>
          </a:p>
        </p:txBody>
      </p:sp>
      <p:sp>
        <p:nvSpPr>
          <p:cNvPr id="35" name="TextBox 35"/>
          <p:cNvSpPr txBox="1"/>
          <p:nvPr/>
        </p:nvSpPr>
        <p:spPr>
          <a:xfrm>
            <a:off x="2789800" y="5563446"/>
            <a:ext cx="6354200" cy="500778"/>
          </a:xfrm>
          <a:prstGeom prst="rect">
            <a:avLst/>
          </a:prstGeom>
        </p:spPr>
        <p:txBody>
          <a:bodyPr lIns="0" tIns="0" rIns="0" bIns="0" rtlCol="0" anchor="t">
            <a:spAutoFit/>
          </a:bodyPr>
          <a:lstStyle/>
          <a:p>
            <a:pPr marL="0" lvl="0" indent="0" algn="l">
              <a:lnSpc>
                <a:spcPts val="2020"/>
              </a:lnSpc>
            </a:pPr>
            <a:r>
              <a:rPr lang="en-US" sz="1508" dirty="0">
                <a:solidFill>
                  <a:schemeClr val="accent1">
                    <a:lumMod val="40000"/>
                    <a:lumOff val="60000"/>
                  </a:schemeClr>
                </a:solidFill>
                <a:latin typeface="Agrandir"/>
                <a:ea typeface="Agrandir"/>
                <a:cs typeface="Agrandir"/>
                <a:sym typeface="Agrandir"/>
              </a:rPr>
              <a:t>Core framework for machine learning model development, training, and evaluation with comprehensive algorithm support.</a:t>
            </a:r>
          </a:p>
        </p:txBody>
      </p:sp>
      <p:sp>
        <p:nvSpPr>
          <p:cNvPr id="36" name="TextBox 36"/>
          <p:cNvSpPr txBox="1"/>
          <p:nvPr/>
        </p:nvSpPr>
        <p:spPr>
          <a:xfrm>
            <a:off x="2914866" y="4529769"/>
            <a:ext cx="797349" cy="525185"/>
          </a:xfrm>
          <a:prstGeom prst="rect">
            <a:avLst/>
          </a:prstGeom>
        </p:spPr>
        <p:txBody>
          <a:bodyPr lIns="0" tIns="0" rIns="0" bIns="0" rtlCol="0" anchor="t">
            <a:spAutoFit/>
          </a:bodyPr>
          <a:lstStyle/>
          <a:p>
            <a:pPr marL="0" lvl="0" indent="0" algn="l">
              <a:lnSpc>
                <a:spcPts val="3688"/>
              </a:lnSpc>
            </a:pPr>
            <a:endParaRPr/>
          </a:p>
        </p:txBody>
      </p:sp>
      <p:sp>
        <p:nvSpPr>
          <p:cNvPr id="37" name="TextBox 37"/>
          <p:cNvSpPr txBox="1"/>
          <p:nvPr/>
        </p:nvSpPr>
        <p:spPr>
          <a:xfrm>
            <a:off x="4065707" y="6799363"/>
            <a:ext cx="2173187" cy="566710"/>
          </a:xfrm>
          <a:prstGeom prst="rect">
            <a:avLst/>
          </a:prstGeom>
        </p:spPr>
        <p:txBody>
          <a:bodyPr lIns="0" tIns="0" rIns="0" bIns="0" rtlCol="0" anchor="t">
            <a:spAutoFit/>
          </a:bodyPr>
          <a:lstStyle/>
          <a:p>
            <a:pPr marL="0" lvl="0" indent="0" algn="l">
              <a:lnSpc>
                <a:spcPts val="2060"/>
              </a:lnSpc>
            </a:pPr>
            <a:r>
              <a:rPr lang="en-US" sz="1872">
                <a:solidFill>
                  <a:srgbClr val="FFFFFF"/>
                </a:solidFill>
                <a:latin typeface="Agrandir"/>
                <a:ea typeface="Agrandir"/>
                <a:cs typeface="Agrandir"/>
                <a:sym typeface="Agrandir"/>
              </a:rPr>
              <a:t>Pandas &amp; Data Processing</a:t>
            </a:r>
          </a:p>
        </p:txBody>
      </p:sp>
      <p:sp>
        <p:nvSpPr>
          <p:cNvPr id="38" name="TextBox 38"/>
          <p:cNvSpPr txBox="1"/>
          <p:nvPr/>
        </p:nvSpPr>
        <p:spPr>
          <a:xfrm>
            <a:off x="2789800" y="7901228"/>
            <a:ext cx="5233100" cy="500778"/>
          </a:xfrm>
          <a:prstGeom prst="rect">
            <a:avLst/>
          </a:prstGeom>
        </p:spPr>
        <p:txBody>
          <a:bodyPr lIns="0" tIns="0" rIns="0" bIns="0" rtlCol="0" anchor="t">
            <a:spAutoFit/>
          </a:bodyPr>
          <a:lstStyle/>
          <a:p>
            <a:pPr marL="0" lvl="0" indent="0" algn="l">
              <a:lnSpc>
                <a:spcPts val="2020"/>
              </a:lnSpc>
            </a:pPr>
            <a:r>
              <a:rPr lang="en-US" sz="1508" dirty="0">
                <a:solidFill>
                  <a:schemeClr val="accent1">
                    <a:lumMod val="40000"/>
                    <a:lumOff val="60000"/>
                  </a:schemeClr>
                </a:solidFill>
                <a:latin typeface="Agrandir"/>
                <a:ea typeface="Agrandir"/>
                <a:cs typeface="Agrandir"/>
                <a:sym typeface="Agrandir"/>
              </a:rPr>
              <a:t>Efficient data manipulation, cleaning, and preparation for model training and analysis pipelines.</a:t>
            </a:r>
          </a:p>
        </p:txBody>
      </p:sp>
      <p:sp>
        <p:nvSpPr>
          <p:cNvPr id="39" name="TextBox 39"/>
          <p:cNvSpPr txBox="1"/>
          <p:nvPr/>
        </p:nvSpPr>
        <p:spPr>
          <a:xfrm>
            <a:off x="2914866" y="6867550"/>
            <a:ext cx="797349" cy="525185"/>
          </a:xfrm>
          <a:prstGeom prst="rect">
            <a:avLst/>
          </a:prstGeom>
        </p:spPr>
        <p:txBody>
          <a:bodyPr lIns="0" tIns="0" rIns="0" bIns="0" rtlCol="0" anchor="t">
            <a:spAutoFit/>
          </a:bodyPr>
          <a:lstStyle/>
          <a:p>
            <a:pPr marL="0" lvl="0" indent="0" algn="l">
              <a:lnSpc>
                <a:spcPts val="3688"/>
              </a:lnSpc>
            </a:pPr>
            <a:endParaRPr/>
          </a:p>
        </p:txBody>
      </p:sp>
      <p:sp>
        <p:nvSpPr>
          <p:cNvPr id="40" name="TextBox 40"/>
          <p:cNvSpPr txBox="1"/>
          <p:nvPr/>
        </p:nvSpPr>
        <p:spPr>
          <a:xfrm>
            <a:off x="10079265" y="5434973"/>
            <a:ext cx="6089281" cy="500778"/>
          </a:xfrm>
          <a:prstGeom prst="rect">
            <a:avLst/>
          </a:prstGeom>
        </p:spPr>
        <p:txBody>
          <a:bodyPr lIns="0" tIns="0" rIns="0" bIns="0" rtlCol="0" anchor="t">
            <a:spAutoFit/>
          </a:bodyPr>
          <a:lstStyle/>
          <a:p>
            <a:pPr marL="0" lvl="0" indent="0" algn="l">
              <a:lnSpc>
                <a:spcPts val="2020"/>
              </a:lnSpc>
            </a:pPr>
            <a:r>
              <a:rPr lang="en-US" sz="1508" dirty="0">
                <a:solidFill>
                  <a:schemeClr val="accent1">
                    <a:lumMod val="40000"/>
                    <a:lumOff val="60000"/>
                  </a:schemeClr>
                </a:solidFill>
                <a:latin typeface="Agrandir"/>
                <a:ea typeface="Agrandir"/>
                <a:cs typeface="Agrandir"/>
                <a:sym typeface="Agrandir"/>
              </a:rPr>
              <a:t>Statistical visualization libraries for creating insightful charts and performance graphs.</a:t>
            </a:r>
          </a:p>
        </p:txBody>
      </p:sp>
      <p:sp>
        <p:nvSpPr>
          <p:cNvPr id="41" name="TextBox 41"/>
          <p:cNvSpPr txBox="1"/>
          <p:nvPr/>
        </p:nvSpPr>
        <p:spPr>
          <a:xfrm>
            <a:off x="10185840" y="4401296"/>
            <a:ext cx="797349" cy="525185"/>
          </a:xfrm>
          <a:prstGeom prst="rect">
            <a:avLst/>
          </a:prstGeom>
        </p:spPr>
        <p:txBody>
          <a:bodyPr lIns="0" tIns="0" rIns="0" bIns="0" rtlCol="0" anchor="t">
            <a:spAutoFit/>
          </a:bodyPr>
          <a:lstStyle/>
          <a:p>
            <a:pPr marL="0" lvl="0" indent="0" algn="l">
              <a:lnSpc>
                <a:spcPts val="3688"/>
              </a:lnSpc>
            </a:pPr>
            <a:endParaRPr/>
          </a:p>
        </p:txBody>
      </p:sp>
      <p:sp>
        <p:nvSpPr>
          <p:cNvPr id="42" name="TextBox 42"/>
          <p:cNvSpPr txBox="1"/>
          <p:nvPr/>
        </p:nvSpPr>
        <p:spPr>
          <a:xfrm>
            <a:off x="10079265" y="7772754"/>
            <a:ext cx="5972756" cy="500778"/>
          </a:xfrm>
          <a:prstGeom prst="rect">
            <a:avLst/>
          </a:prstGeom>
        </p:spPr>
        <p:txBody>
          <a:bodyPr lIns="0" tIns="0" rIns="0" bIns="0" rtlCol="0" anchor="t">
            <a:spAutoFit/>
          </a:bodyPr>
          <a:lstStyle/>
          <a:p>
            <a:pPr marL="0" lvl="0" indent="0" algn="l">
              <a:lnSpc>
                <a:spcPts val="2020"/>
              </a:lnSpc>
            </a:pPr>
            <a:r>
              <a:rPr lang="en-US" sz="1508" dirty="0">
                <a:solidFill>
                  <a:schemeClr val="accent1">
                    <a:lumMod val="40000"/>
                    <a:lumOff val="60000"/>
                  </a:schemeClr>
                </a:solidFill>
                <a:latin typeface="Agrandir"/>
                <a:ea typeface="Agrandir"/>
                <a:cs typeface="Agrandir"/>
                <a:sym typeface="Agrandir"/>
              </a:rPr>
              <a:t>Advanced algorithms with performance evaluation metrics for comprehensive model comparison.</a:t>
            </a:r>
          </a:p>
        </p:txBody>
      </p:sp>
      <p:sp>
        <p:nvSpPr>
          <p:cNvPr id="43" name="TextBox 43"/>
          <p:cNvSpPr txBox="1"/>
          <p:nvPr/>
        </p:nvSpPr>
        <p:spPr>
          <a:xfrm>
            <a:off x="10363813" y="6739077"/>
            <a:ext cx="797349" cy="525185"/>
          </a:xfrm>
          <a:prstGeom prst="rect">
            <a:avLst/>
          </a:prstGeom>
        </p:spPr>
        <p:txBody>
          <a:bodyPr lIns="0" tIns="0" rIns="0" bIns="0" rtlCol="0" anchor="t">
            <a:spAutoFit/>
          </a:bodyPr>
          <a:lstStyle/>
          <a:p>
            <a:pPr marL="0" lvl="0" indent="0" algn="l">
              <a:lnSpc>
                <a:spcPts val="3688"/>
              </a:lnSpc>
            </a:pPr>
            <a:endParaRPr/>
          </a:p>
        </p:txBody>
      </p:sp>
      <p:sp>
        <p:nvSpPr>
          <p:cNvPr id="44" name="TextBox 44"/>
          <p:cNvSpPr txBox="1"/>
          <p:nvPr/>
        </p:nvSpPr>
        <p:spPr>
          <a:xfrm>
            <a:off x="11292676" y="4326042"/>
            <a:ext cx="2173187" cy="566710"/>
          </a:xfrm>
          <a:prstGeom prst="rect">
            <a:avLst/>
          </a:prstGeom>
        </p:spPr>
        <p:txBody>
          <a:bodyPr lIns="0" tIns="0" rIns="0" bIns="0" rtlCol="0" anchor="t">
            <a:spAutoFit/>
          </a:bodyPr>
          <a:lstStyle/>
          <a:p>
            <a:pPr marL="0" lvl="0" indent="0" algn="l">
              <a:lnSpc>
                <a:spcPts val="2060"/>
              </a:lnSpc>
            </a:pPr>
            <a:r>
              <a:rPr lang="en-US" sz="1872">
                <a:solidFill>
                  <a:srgbClr val="FFFFFF"/>
                </a:solidFill>
                <a:latin typeface="Agrandir"/>
                <a:ea typeface="Agrandir"/>
                <a:cs typeface="Agrandir"/>
                <a:sym typeface="Agrandir"/>
              </a:rPr>
              <a:t>Matplotlib &amp; Seaborn:</a:t>
            </a:r>
          </a:p>
        </p:txBody>
      </p:sp>
      <p:sp>
        <p:nvSpPr>
          <p:cNvPr id="45" name="TextBox 45"/>
          <p:cNvSpPr txBox="1"/>
          <p:nvPr/>
        </p:nvSpPr>
        <p:spPr>
          <a:xfrm>
            <a:off x="11470649" y="6660687"/>
            <a:ext cx="2173187" cy="566710"/>
          </a:xfrm>
          <a:prstGeom prst="rect">
            <a:avLst/>
          </a:prstGeom>
        </p:spPr>
        <p:txBody>
          <a:bodyPr lIns="0" tIns="0" rIns="0" bIns="0" rtlCol="0" anchor="t">
            <a:spAutoFit/>
          </a:bodyPr>
          <a:lstStyle/>
          <a:p>
            <a:pPr marL="0" lvl="0" indent="0" algn="l">
              <a:lnSpc>
                <a:spcPts val="2060"/>
              </a:lnSpc>
            </a:pPr>
            <a:r>
              <a:rPr lang="en-US" sz="1872">
                <a:solidFill>
                  <a:srgbClr val="FFFFFF"/>
                </a:solidFill>
                <a:latin typeface="Agrandir"/>
                <a:ea typeface="Agrandir"/>
                <a:cs typeface="Agrandir"/>
                <a:sym typeface="Agrandir"/>
              </a:rPr>
              <a:t>ML Algorithms &amp; Metrics:</a:t>
            </a:r>
          </a:p>
        </p:txBody>
      </p:sp>
      <p:sp>
        <p:nvSpPr>
          <p:cNvPr id="46" name="Freeform 46"/>
          <p:cNvSpPr/>
          <p:nvPr/>
        </p:nvSpPr>
        <p:spPr>
          <a:xfrm>
            <a:off x="15594249" y="7200900"/>
            <a:ext cx="4162370" cy="4114800"/>
          </a:xfrm>
          <a:custGeom>
            <a:avLst/>
            <a:gdLst/>
            <a:ahLst/>
            <a:cxnLst/>
            <a:rect l="l" t="t" r="r" b="b"/>
            <a:pathLst>
              <a:path w="4162370" h="411480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grpSp>
        <p:nvGrpSpPr>
          <p:cNvPr id="6" name="Group 6"/>
          <p:cNvGrpSpPr/>
          <p:nvPr/>
        </p:nvGrpSpPr>
        <p:grpSpPr>
          <a:xfrm>
            <a:off x="7562930" y="2893222"/>
            <a:ext cx="4144557" cy="989754"/>
            <a:chOff x="0" y="0"/>
            <a:chExt cx="1017514" cy="242991"/>
          </a:xfrm>
        </p:grpSpPr>
        <p:sp>
          <p:nvSpPr>
            <p:cNvPr id="7" name="Freeform 7"/>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8" name="TextBox 8"/>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sp>
        <p:nvSpPr>
          <p:cNvPr id="9" name="TextBox 9"/>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10" name="TextBox 10"/>
          <p:cNvSpPr txBox="1"/>
          <p:nvPr/>
        </p:nvSpPr>
        <p:spPr>
          <a:xfrm>
            <a:off x="6328986" y="9248775"/>
            <a:ext cx="5378501" cy="186309"/>
          </a:xfrm>
          <a:prstGeom prst="rect">
            <a:avLst/>
          </a:prstGeom>
        </p:spPr>
        <p:txBody>
          <a:bodyPr lIns="0" tIns="0" rIns="0" bIns="0" rtlCol="0" anchor="t">
            <a:spAutoFit/>
          </a:bodyPr>
          <a:lstStyle/>
          <a:p>
            <a:pPr marL="0" lvl="0" indent="0" algn="ctr">
              <a:lnSpc>
                <a:spcPts val="1248"/>
              </a:lnSpc>
              <a:spcBef>
                <a:spcPct val="0"/>
              </a:spcBef>
            </a:pPr>
            <a:r>
              <a:rPr lang="en-US" sz="1200" b="1">
                <a:solidFill>
                  <a:srgbClr val="050056"/>
                </a:solidFill>
                <a:latin typeface="Agrandir Bold"/>
                <a:ea typeface="Agrandir Bold"/>
                <a:cs typeface="Agrandir Bold"/>
                <a:sym typeface="Agrandir Bold"/>
              </a:rPr>
              <a:t>MACHINE LEARNING-BASED MODEL EVALUATION</a:t>
            </a:r>
          </a:p>
        </p:txBody>
      </p:sp>
      <p:sp>
        <p:nvSpPr>
          <p:cNvPr id="11" name="Freeform 11"/>
          <p:cNvSpPr/>
          <p:nvPr/>
        </p:nvSpPr>
        <p:spPr>
          <a:xfrm>
            <a:off x="1502267" y="3215540"/>
            <a:ext cx="5048616" cy="5048616"/>
          </a:xfrm>
          <a:custGeom>
            <a:avLst/>
            <a:gdLst/>
            <a:ahLst/>
            <a:cxnLst/>
            <a:rect l="l" t="t" r="r" b="b"/>
            <a:pathLst>
              <a:path w="5048616" h="5048616">
                <a:moveTo>
                  <a:pt x="0" y="0"/>
                </a:moveTo>
                <a:lnTo>
                  <a:pt x="5048616" y="0"/>
                </a:lnTo>
                <a:lnTo>
                  <a:pt x="5048616" y="5048616"/>
                </a:lnTo>
                <a:lnTo>
                  <a:pt x="0" y="50486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2656521" y="4694145"/>
            <a:ext cx="3355672" cy="3026450"/>
          </a:xfrm>
          <a:prstGeom prst="rect">
            <a:avLst/>
          </a:prstGeom>
        </p:spPr>
        <p:txBody>
          <a:bodyPr lIns="0" tIns="0" rIns="0" bIns="0" rtlCol="0" anchor="t">
            <a:spAutoFit/>
          </a:bodyPr>
          <a:lstStyle/>
          <a:p>
            <a:pPr marL="0" lvl="0" indent="0" algn="l">
              <a:lnSpc>
                <a:spcPts val="4747"/>
              </a:lnSpc>
            </a:pPr>
            <a:r>
              <a:rPr lang="en-US" sz="4564">
                <a:solidFill>
                  <a:srgbClr val="050056"/>
                </a:solidFill>
                <a:latin typeface="Anton"/>
                <a:ea typeface="Anton"/>
                <a:cs typeface="Anton"/>
                <a:sym typeface="Anton"/>
              </a:rPr>
              <a:t>MODEL EVALUATION AND COMPARISON ANALYSIS</a:t>
            </a:r>
          </a:p>
        </p:txBody>
      </p:sp>
      <p:sp>
        <p:nvSpPr>
          <p:cNvPr id="13" name="TextBox 13"/>
          <p:cNvSpPr txBox="1"/>
          <p:nvPr/>
        </p:nvSpPr>
        <p:spPr>
          <a:xfrm>
            <a:off x="8998318" y="3106474"/>
            <a:ext cx="2173187" cy="357226"/>
          </a:xfrm>
          <a:prstGeom prst="rect">
            <a:avLst/>
          </a:prstGeom>
        </p:spPr>
        <p:txBody>
          <a:bodyPr lIns="0" tIns="0" rIns="0" bIns="0" rtlCol="0" anchor="t">
            <a:spAutoFit/>
          </a:bodyPr>
          <a:lstStyle/>
          <a:p>
            <a:pPr marL="0" lvl="0" indent="0" algn="l">
              <a:lnSpc>
                <a:spcPts val="2509"/>
              </a:lnSpc>
            </a:pPr>
            <a:r>
              <a:rPr lang="en-US" sz="1872">
                <a:solidFill>
                  <a:srgbClr val="FFFFFF"/>
                </a:solidFill>
                <a:latin typeface="Agrandir"/>
                <a:ea typeface="Agrandir"/>
                <a:cs typeface="Agrandir"/>
                <a:sym typeface="Agrandir"/>
              </a:rPr>
              <a:t>Compare Models:</a:t>
            </a:r>
          </a:p>
        </p:txBody>
      </p:sp>
      <p:sp>
        <p:nvSpPr>
          <p:cNvPr id="14" name="TextBox 14"/>
          <p:cNvSpPr txBox="1"/>
          <p:nvPr/>
        </p:nvSpPr>
        <p:spPr>
          <a:xfrm>
            <a:off x="12021812" y="3037438"/>
            <a:ext cx="4308529" cy="671551"/>
          </a:xfrm>
          <a:prstGeom prst="rect">
            <a:avLst/>
          </a:prstGeom>
        </p:spPr>
        <p:txBody>
          <a:bodyPr lIns="0" tIns="0" rIns="0" bIns="0" rtlCol="0" anchor="t">
            <a:spAutoFit/>
          </a:bodyPr>
          <a:lstStyle/>
          <a:p>
            <a:pPr marL="0" lvl="0" indent="0" algn="l">
              <a:lnSpc>
                <a:spcPts val="2509"/>
              </a:lnSpc>
            </a:pPr>
            <a:r>
              <a:rPr lang="en-US" sz="1872">
                <a:solidFill>
                  <a:srgbClr val="050056"/>
                </a:solidFill>
                <a:latin typeface="Agrandir"/>
                <a:ea typeface="Agrandir"/>
                <a:cs typeface="Agrandir"/>
                <a:sym typeface="Agrandir"/>
              </a:rPr>
              <a:t>Compare multiple ML models side by side.</a:t>
            </a:r>
          </a:p>
        </p:txBody>
      </p:sp>
      <p:grpSp>
        <p:nvGrpSpPr>
          <p:cNvPr id="15" name="Group 15"/>
          <p:cNvGrpSpPr/>
          <p:nvPr/>
        </p:nvGrpSpPr>
        <p:grpSpPr>
          <a:xfrm>
            <a:off x="7562930" y="2893222"/>
            <a:ext cx="1081897" cy="989754"/>
            <a:chOff x="0" y="0"/>
            <a:chExt cx="265612" cy="242991"/>
          </a:xfrm>
        </p:grpSpPr>
        <p:sp>
          <p:nvSpPr>
            <p:cNvPr id="16" name="Freeform 16"/>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17" name="TextBox 17"/>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sp>
        <p:nvSpPr>
          <p:cNvPr id="18" name="TextBox 18"/>
          <p:cNvSpPr txBox="1"/>
          <p:nvPr/>
        </p:nvSpPr>
        <p:spPr>
          <a:xfrm>
            <a:off x="7847478" y="3068374"/>
            <a:ext cx="797349" cy="525185"/>
          </a:xfrm>
          <a:prstGeom prst="rect">
            <a:avLst/>
          </a:prstGeom>
        </p:spPr>
        <p:txBody>
          <a:bodyPr lIns="0" tIns="0" rIns="0" bIns="0" rtlCol="0" anchor="t">
            <a:spAutoFit/>
          </a:bodyPr>
          <a:lstStyle/>
          <a:p>
            <a:pPr marL="0" lvl="0" indent="0" algn="l">
              <a:lnSpc>
                <a:spcPts val="3688"/>
              </a:lnSpc>
            </a:pPr>
            <a:endParaRPr/>
          </a:p>
        </p:txBody>
      </p:sp>
      <p:grpSp>
        <p:nvGrpSpPr>
          <p:cNvPr id="19" name="Group 19"/>
          <p:cNvGrpSpPr/>
          <p:nvPr/>
        </p:nvGrpSpPr>
        <p:grpSpPr>
          <a:xfrm>
            <a:off x="7562930" y="4353615"/>
            <a:ext cx="4144557" cy="989754"/>
            <a:chOff x="0" y="0"/>
            <a:chExt cx="1017514" cy="242991"/>
          </a:xfrm>
        </p:grpSpPr>
        <p:sp>
          <p:nvSpPr>
            <p:cNvPr id="20" name="Freeform 20"/>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21" name="TextBox 21"/>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sp>
        <p:nvSpPr>
          <p:cNvPr id="22" name="TextBox 22"/>
          <p:cNvSpPr txBox="1"/>
          <p:nvPr/>
        </p:nvSpPr>
        <p:spPr>
          <a:xfrm>
            <a:off x="9018236" y="4464657"/>
            <a:ext cx="2173187" cy="314314"/>
          </a:xfrm>
          <a:prstGeom prst="rect">
            <a:avLst/>
          </a:prstGeom>
        </p:spPr>
        <p:txBody>
          <a:bodyPr lIns="0" tIns="0" rIns="0" bIns="0" rtlCol="0" anchor="t">
            <a:spAutoFit/>
          </a:bodyPr>
          <a:lstStyle/>
          <a:p>
            <a:pPr marL="0" lvl="0" indent="0" algn="l">
              <a:lnSpc>
                <a:spcPts val="2172"/>
              </a:lnSpc>
            </a:pPr>
            <a:r>
              <a:rPr lang="en-US" sz="1872">
                <a:solidFill>
                  <a:srgbClr val="FFFFFF"/>
                </a:solidFill>
                <a:latin typeface="Agrandir"/>
                <a:ea typeface="Agrandir"/>
                <a:cs typeface="Agrandir"/>
                <a:sym typeface="Agrandir"/>
              </a:rPr>
              <a:t>Standard Metrics:</a:t>
            </a:r>
          </a:p>
        </p:txBody>
      </p:sp>
      <p:sp>
        <p:nvSpPr>
          <p:cNvPr id="23" name="TextBox 23"/>
          <p:cNvSpPr txBox="1"/>
          <p:nvPr/>
        </p:nvSpPr>
        <p:spPr>
          <a:xfrm>
            <a:off x="12021812" y="4398753"/>
            <a:ext cx="4308529" cy="671551"/>
          </a:xfrm>
          <a:prstGeom prst="rect">
            <a:avLst/>
          </a:prstGeom>
        </p:spPr>
        <p:txBody>
          <a:bodyPr lIns="0" tIns="0" rIns="0" bIns="0" rtlCol="0" anchor="t">
            <a:spAutoFit/>
          </a:bodyPr>
          <a:lstStyle/>
          <a:p>
            <a:pPr marL="0" lvl="0" indent="0" algn="l">
              <a:lnSpc>
                <a:spcPts val="2509"/>
              </a:lnSpc>
            </a:pPr>
            <a:r>
              <a:rPr lang="en-US" sz="1872">
                <a:solidFill>
                  <a:srgbClr val="050056"/>
                </a:solidFill>
                <a:latin typeface="Agrandir"/>
                <a:ea typeface="Agrandir"/>
                <a:cs typeface="Agrandir"/>
                <a:sym typeface="Agrandir"/>
              </a:rPr>
              <a:t>Evaluate using industry-standard metrics.</a:t>
            </a:r>
          </a:p>
        </p:txBody>
      </p:sp>
      <p:grpSp>
        <p:nvGrpSpPr>
          <p:cNvPr id="24" name="Group 24"/>
          <p:cNvGrpSpPr/>
          <p:nvPr/>
        </p:nvGrpSpPr>
        <p:grpSpPr>
          <a:xfrm>
            <a:off x="7562930" y="4353615"/>
            <a:ext cx="1081897" cy="989754"/>
            <a:chOff x="0" y="0"/>
            <a:chExt cx="265612" cy="242991"/>
          </a:xfrm>
        </p:grpSpPr>
        <p:sp>
          <p:nvSpPr>
            <p:cNvPr id="25" name="Freeform 25"/>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26" name="TextBox 26"/>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sp>
        <p:nvSpPr>
          <p:cNvPr id="27" name="TextBox 27"/>
          <p:cNvSpPr txBox="1"/>
          <p:nvPr/>
        </p:nvSpPr>
        <p:spPr>
          <a:xfrm>
            <a:off x="7847478" y="4528767"/>
            <a:ext cx="797349" cy="525185"/>
          </a:xfrm>
          <a:prstGeom prst="rect">
            <a:avLst/>
          </a:prstGeom>
        </p:spPr>
        <p:txBody>
          <a:bodyPr lIns="0" tIns="0" rIns="0" bIns="0" rtlCol="0" anchor="t">
            <a:spAutoFit/>
          </a:bodyPr>
          <a:lstStyle/>
          <a:p>
            <a:pPr marL="0" lvl="0" indent="0" algn="l">
              <a:lnSpc>
                <a:spcPts val="3688"/>
              </a:lnSpc>
            </a:pPr>
            <a:endParaRPr/>
          </a:p>
        </p:txBody>
      </p:sp>
      <p:grpSp>
        <p:nvGrpSpPr>
          <p:cNvPr id="28" name="Group 28"/>
          <p:cNvGrpSpPr/>
          <p:nvPr/>
        </p:nvGrpSpPr>
        <p:grpSpPr>
          <a:xfrm>
            <a:off x="7562930" y="5814008"/>
            <a:ext cx="4144557" cy="989754"/>
            <a:chOff x="0" y="0"/>
            <a:chExt cx="1017514" cy="242991"/>
          </a:xfrm>
        </p:grpSpPr>
        <p:sp>
          <p:nvSpPr>
            <p:cNvPr id="29" name="Freeform 29"/>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30" name="TextBox 30"/>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sp>
        <p:nvSpPr>
          <p:cNvPr id="31" name="TextBox 31"/>
          <p:cNvSpPr txBox="1"/>
          <p:nvPr/>
        </p:nvSpPr>
        <p:spPr>
          <a:xfrm>
            <a:off x="8929686" y="6078527"/>
            <a:ext cx="2611378" cy="581014"/>
          </a:xfrm>
          <a:prstGeom prst="rect">
            <a:avLst/>
          </a:prstGeom>
        </p:spPr>
        <p:txBody>
          <a:bodyPr lIns="0" tIns="0" rIns="0" bIns="0" rtlCol="0" anchor="t">
            <a:spAutoFit/>
          </a:bodyPr>
          <a:lstStyle/>
          <a:p>
            <a:pPr marL="0" lvl="0" indent="0" algn="l">
              <a:lnSpc>
                <a:spcPts val="2172"/>
              </a:lnSpc>
            </a:pPr>
            <a:r>
              <a:rPr lang="en-US" sz="1872">
                <a:solidFill>
                  <a:srgbClr val="FFFFFF"/>
                </a:solidFill>
                <a:latin typeface="Agrandir"/>
                <a:ea typeface="Agrandir"/>
                <a:cs typeface="Agrandir"/>
                <a:sym typeface="Agrandir"/>
              </a:rPr>
              <a:t>Strengths &amp; Weaknesses:</a:t>
            </a:r>
          </a:p>
        </p:txBody>
      </p:sp>
      <p:sp>
        <p:nvSpPr>
          <p:cNvPr id="32" name="TextBox 32"/>
          <p:cNvSpPr txBox="1"/>
          <p:nvPr/>
        </p:nvSpPr>
        <p:spPr>
          <a:xfrm>
            <a:off x="12021812" y="5760067"/>
            <a:ext cx="4308529" cy="671551"/>
          </a:xfrm>
          <a:prstGeom prst="rect">
            <a:avLst/>
          </a:prstGeom>
        </p:spPr>
        <p:txBody>
          <a:bodyPr lIns="0" tIns="0" rIns="0" bIns="0" rtlCol="0" anchor="t">
            <a:spAutoFit/>
          </a:bodyPr>
          <a:lstStyle/>
          <a:p>
            <a:pPr marL="0" lvl="0" indent="0" algn="l">
              <a:lnSpc>
                <a:spcPts val="2509"/>
              </a:lnSpc>
            </a:pPr>
            <a:r>
              <a:rPr lang="en-US" sz="1872">
                <a:solidFill>
                  <a:srgbClr val="050056"/>
                </a:solidFill>
                <a:latin typeface="Agrandir"/>
                <a:ea typeface="Agrandir"/>
                <a:cs typeface="Agrandir"/>
                <a:sym typeface="Agrandir"/>
              </a:rPr>
              <a:t>Identify model capabilities and limitations.</a:t>
            </a:r>
          </a:p>
        </p:txBody>
      </p:sp>
      <p:grpSp>
        <p:nvGrpSpPr>
          <p:cNvPr id="33" name="Group 33"/>
          <p:cNvGrpSpPr/>
          <p:nvPr/>
        </p:nvGrpSpPr>
        <p:grpSpPr>
          <a:xfrm>
            <a:off x="7562930" y="5814008"/>
            <a:ext cx="1081897" cy="989754"/>
            <a:chOff x="0" y="0"/>
            <a:chExt cx="265612" cy="242991"/>
          </a:xfrm>
        </p:grpSpPr>
        <p:sp>
          <p:nvSpPr>
            <p:cNvPr id="34" name="Freeform 34"/>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35" name="TextBox 35"/>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sp>
        <p:nvSpPr>
          <p:cNvPr id="36" name="TextBox 36"/>
          <p:cNvSpPr txBox="1"/>
          <p:nvPr/>
        </p:nvSpPr>
        <p:spPr>
          <a:xfrm>
            <a:off x="7847478" y="5989160"/>
            <a:ext cx="797349" cy="525185"/>
          </a:xfrm>
          <a:prstGeom prst="rect">
            <a:avLst/>
          </a:prstGeom>
        </p:spPr>
        <p:txBody>
          <a:bodyPr lIns="0" tIns="0" rIns="0" bIns="0" rtlCol="0" anchor="t">
            <a:spAutoFit/>
          </a:bodyPr>
          <a:lstStyle/>
          <a:p>
            <a:pPr marL="0" lvl="0" indent="0" algn="l">
              <a:lnSpc>
                <a:spcPts val="3688"/>
              </a:lnSpc>
            </a:pPr>
            <a:endParaRPr/>
          </a:p>
        </p:txBody>
      </p:sp>
      <p:grpSp>
        <p:nvGrpSpPr>
          <p:cNvPr id="37" name="Group 37"/>
          <p:cNvGrpSpPr/>
          <p:nvPr/>
        </p:nvGrpSpPr>
        <p:grpSpPr>
          <a:xfrm>
            <a:off x="7562930" y="7274401"/>
            <a:ext cx="4144557" cy="989754"/>
            <a:chOff x="0" y="0"/>
            <a:chExt cx="1017514" cy="242991"/>
          </a:xfrm>
        </p:grpSpPr>
        <p:sp>
          <p:nvSpPr>
            <p:cNvPr id="38" name="Freeform 38"/>
            <p:cNvSpPr/>
            <p:nvPr/>
          </p:nvSpPr>
          <p:spPr>
            <a:xfrm>
              <a:off x="0" y="0"/>
              <a:ext cx="1017514" cy="242991"/>
            </a:xfrm>
            <a:custGeom>
              <a:avLst/>
              <a:gdLst/>
              <a:ahLst/>
              <a:cxnLst/>
              <a:rect l="l" t="t" r="r" b="b"/>
              <a:pathLst>
                <a:path w="1017514" h="242991">
                  <a:moveTo>
                    <a:pt x="121495" y="0"/>
                  </a:moveTo>
                  <a:lnTo>
                    <a:pt x="896019" y="0"/>
                  </a:lnTo>
                  <a:cubicBezTo>
                    <a:pt x="928241" y="0"/>
                    <a:pt x="959144" y="12800"/>
                    <a:pt x="981929" y="35585"/>
                  </a:cubicBezTo>
                  <a:cubicBezTo>
                    <a:pt x="1004714" y="58370"/>
                    <a:pt x="1017514" y="89273"/>
                    <a:pt x="1017514" y="121495"/>
                  </a:cubicBezTo>
                  <a:lnTo>
                    <a:pt x="1017514" y="121495"/>
                  </a:lnTo>
                  <a:cubicBezTo>
                    <a:pt x="1017514" y="153718"/>
                    <a:pt x="1004714" y="184621"/>
                    <a:pt x="981929" y="207406"/>
                  </a:cubicBezTo>
                  <a:cubicBezTo>
                    <a:pt x="959144" y="230190"/>
                    <a:pt x="928241" y="242991"/>
                    <a:pt x="896019"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39" name="TextBox 39"/>
            <p:cNvSpPr txBox="1"/>
            <p:nvPr/>
          </p:nvSpPr>
          <p:spPr>
            <a:xfrm>
              <a:off x="0" y="-28575"/>
              <a:ext cx="1017514" cy="271566"/>
            </a:xfrm>
            <a:prstGeom prst="rect">
              <a:avLst/>
            </a:prstGeom>
          </p:spPr>
          <p:txBody>
            <a:bodyPr lIns="50800" tIns="50800" rIns="50800" bIns="50800" rtlCol="0" anchor="ctr"/>
            <a:lstStyle/>
            <a:p>
              <a:pPr marL="0" lvl="0" indent="0" algn="ctr">
                <a:lnSpc>
                  <a:spcPts val="2126"/>
                </a:lnSpc>
              </a:pPr>
              <a:endParaRPr/>
            </a:p>
          </p:txBody>
        </p:sp>
      </p:grpSp>
      <p:sp>
        <p:nvSpPr>
          <p:cNvPr id="40" name="TextBox 40"/>
          <p:cNvSpPr txBox="1"/>
          <p:nvPr/>
        </p:nvSpPr>
        <p:spPr>
          <a:xfrm>
            <a:off x="8998318" y="7392843"/>
            <a:ext cx="2173187" cy="533357"/>
          </a:xfrm>
          <a:prstGeom prst="rect">
            <a:avLst/>
          </a:prstGeom>
        </p:spPr>
        <p:txBody>
          <a:bodyPr lIns="0" tIns="0" rIns="0" bIns="0" rtlCol="0" anchor="t">
            <a:spAutoFit/>
          </a:bodyPr>
          <a:lstStyle/>
          <a:p>
            <a:pPr marL="0" lvl="0" indent="0" algn="l">
              <a:lnSpc>
                <a:spcPts val="1947"/>
              </a:lnSpc>
            </a:pPr>
            <a:r>
              <a:rPr lang="en-US" sz="1872">
                <a:solidFill>
                  <a:srgbClr val="FFFFFF"/>
                </a:solidFill>
                <a:latin typeface="Agrandir"/>
                <a:ea typeface="Agrandir"/>
                <a:cs typeface="Agrandir"/>
                <a:sym typeface="Agrandir"/>
              </a:rPr>
              <a:t>Performance Reports:</a:t>
            </a:r>
          </a:p>
        </p:txBody>
      </p:sp>
      <p:sp>
        <p:nvSpPr>
          <p:cNvPr id="41" name="TextBox 41"/>
          <p:cNvSpPr txBox="1"/>
          <p:nvPr/>
        </p:nvSpPr>
        <p:spPr>
          <a:xfrm>
            <a:off x="12021812" y="7550006"/>
            <a:ext cx="5066677" cy="357226"/>
          </a:xfrm>
          <a:prstGeom prst="rect">
            <a:avLst/>
          </a:prstGeom>
        </p:spPr>
        <p:txBody>
          <a:bodyPr lIns="0" tIns="0" rIns="0" bIns="0" rtlCol="0" anchor="t">
            <a:spAutoFit/>
          </a:bodyPr>
          <a:lstStyle/>
          <a:p>
            <a:pPr marL="0" lvl="0" indent="0" algn="l">
              <a:lnSpc>
                <a:spcPts val="2509"/>
              </a:lnSpc>
            </a:pPr>
            <a:r>
              <a:rPr lang="en-US" sz="1872">
                <a:solidFill>
                  <a:srgbClr val="050056"/>
                </a:solidFill>
                <a:latin typeface="Agrandir"/>
                <a:ea typeface="Agrandir"/>
                <a:cs typeface="Agrandir"/>
                <a:sym typeface="Agrandir"/>
              </a:rPr>
              <a:t>Generate detailed evaluation reports.</a:t>
            </a:r>
          </a:p>
        </p:txBody>
      </p:sp>
      <p:grpSp>
        <p:nvGrpSpPr>
          <p:cNvPr id="42" name="Group 42"/>
          <p:cNvGrpSpPr/>
          <p:nvPr/>
        </p:nvGrpSpPr>
        <p:grpSpPr>
          <a:xfrm>
            <a:off x="7562930" y="7274401"/>
            <a:ext cx="1081897" cy="989754"/>
            <a:chOff x="0" y="0"/>
            <a:chExt cx="265612" cy="242991"/>
          </a:xfrm>
        </p:grpSpPr>
        <p:sp>
          <p:nvSpPr>
            <p:cNvPr id="43" name="Freeform 43"/>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44" name="TextBox 44"/>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sp>
        <p:nvSpPr>
          <p:cNvPr id="45" name="TextBox 45"/>
          <p:cNvSpPr txBox="1"/>
          <p:nvPr/>
        </p:nvSpPr>
        <p:spPr>
          <a:xfrm>
            <a:off x="7847478" y="7449554"/>
            <a:ext cx="797349" cy="525185"/>
          </a:xfrm>
          <a:prstGeom prst="rect">
            <a:avLst/>
          </a:prstGeom>
        </p:spPr>
        <p:txBody>
          <a:bodyPr lIns="0" tIns="0" rIns="0" bIns="0" rtlCol="0" anchor="t">
            <a:spAutoFit/>
          </a:bodyPr>
          <a:lstStyle/>
          <a:p>
            <a:pPr marL="0" lvl="0" indent="0" algn="l">
              <a:lnSpc>
                <a:spcPts val="3688"/>
              </a:lnSpc>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grpSp>
        <p:nvGrpSpPr>
          <p:cNvPr id="6" name="Group 6"/>
          <p:cNvGrpSpPr/>
          <p:nvPr/>
        </p:nvGrpSpPr>
        <p:grpSpPr>
          <a:xfrm>
            <a:off x="7643180" y="4339529"/>
            <a:ext cx="4516221" cy="989754"/>
            <a:chOff x="0" y="0"/>
            <a:chExt cx="1108760" cy="242991"/>
          </a:xfrm>
        </p:grpSpPr>
        <p:sp>
          <p:nvSpPr>
            <p:cNvPr id="7" name="Freeform 7"/>
            <p:cNvSpPr/>
            <p:nvPr/>
          </p:nvSpPr>
          <p:spPr>
            <a:xfrm>
              <a:off x="0" y="0"/>
              <a:ext cx="1108760" cy="242991"/>
            </a:xfrm>
            <a:custGeom>
              <a:avLst/>
              <a:gdLst/>
              <a:ahLst/>
              <a:cxnLst/>
              <a:rect l="l" t="t" r="r" b="b"/>
              <a:pathLst>
                <a:path w="1108760" h="242991">
                  <a:moveTo>
                    <a:pt x="121495" y="0"/>
                  </a:moveTo>
                  <a:lnTo>
                    <a:pt x="987264" y="0"/>
                  </a:lnTo>
                  <a:cubicBezTo>
                    <a:pt x="1019487" y="0"/>
                    <a:pt x="1050390" y="12800"/>
                    <a:pt x="1073175" y="35585"/>
                  </a:cubicBezTo>
                  <a:cubicBezTo>
                    <a:pt x="1095959" y="58370"/>
                    <a:pt x="1108760" y="89273"/>
                    <a:pt x="1108760" y="121495"/>
                  </a:cubicBezTo>
                  <a:lnTo>
                    <a:pt x="1108760" y="121495"/>
                  </a:lnTo>
                  <a:cubicBezTo>
                    <a:pt x="1108760" y="153718"/>
                    <a:pt x="1095959" y="184621"/>
                    <a:pt x="1073175" y="207406"/>
                  </a:cubicBezTo>
                  <a:cubicBezTo>
                    <a:pt x="1050390" y="230190"/>
                    <a:pt x="1019487" y="242991"/>
                    <a:pt x="987264"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8" name="TextBox 8"/>
            <p:cNvSpPr txBox="1"/>
            <p:nvPr/>
          </p:nvSpPr>
          <p:spPr>
            <a:xfrm>
              <a:off x="0" y="-28575"/>
              <a:ext cx="1108760" cy="271566"/>
            </a:xfrm>
            <a:prstGeom prst="rect">
              <a:avLst/>
            </a:prstGeom>
          </p:spPr>
          <p:txBody>
            <a:bodyPr lIns="50800" tIns="50800" rIns="50800" bIns="50800" rtlCol="0" anchor="ctr"/>
            <a:lstStyle/>
            <a:p>
              <a:pPr marL="0" lvl="0" indent="0" algn="ctr">
                <a:lnSpc>
                  <a:spcPts val="2126"/>
                </a:lnSpc>
              </a:pPr>
              <a:endParaRPr/>
            </a:p>
          </p:txBody>
        </p:sp>
      </p:grpSp>
      <p:grpSp>
        <p:nvGrpSpPr>
          <p:cNvPr id="9" name="Group 9"/>
          <p:cNvGrpSpPr/>
          <p:nvPr/>
        </p:nvGrpSpPr>
        <p:grpSpPr>
          <a:xfrm>
            <a:off x="7643180" y="4339529"/>
            <a:ext cx="1081897" cy="989754"/>
            <a:chOff x="0" y="0"/>
            <a:chExt cx="265612" cy="242991"/>
          </a:xfrm>
        </p:grpSpPr>
        <p:sp>
          <p:nvSpPr>
            <p:cNvPr id="10" name="Freeform 10"/>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11" name="TextBox 11"/>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grpSp>
        <p:nvGrpSpPr>
          <p:cNvPr id="12" name="Group 12"/>
          <p:cNvGrpSpPr/>
          <p:nvPr/>
        </p:nvGrpSpPr>
        <p:grpSpPr>
          <a:xfrm>
            <a:off x="7643180" y="5799922"/>
            <a:ext cx="4516221" cy="989754"/>
            <a:chOff x="0" y="0"/>
            <a:chExt cx="1108760" cy="242991"/>
          </a:xfrm>
        </p:grpSpPr>
        <p:sp>
          <p:nvSpPr>
            <p:cNvPr id="13" name="Freeform 13"/>
            <p:cNvSpPr/>
            <p:nvPr/>
          </p:nvSpPr>
          <p:spPr>
            <a:xfrm>
              <a:off x="0" y="0"/>
              <a:ext cx="1108760" cy="242991"/>
            </a:xfrm>
            <a:custGeom>
              <a:avLst/>
              <a:gdLst/>
              <a:ahLst/>
              <a:cxnLst/>
              <a:rect l="l" t="t" r="r" b="b"/>
              <a:pathLst>
                <a:path w="1108760" h="242991">
                  <a:moveTo>
                    <a:pt x="121495" y="0"/>
                  </a:moveTo>
                  <a:lnTo>
                    <a:pt x="987264" y="0"/>
                  </a:lnTo>
                  <a:cubicBezTo>
                    <a:pt x="1019487" y="0"/>
                    <a:pt x="1050390" y="12800"/>
                    <a:pt x="1073175" y="35585"/>
                  </a:cubicBezTo>
                  <a:cubicBezTo>
                    <a:pt x="1095959" y="58370"/>
                    <a:pt x="1108760" y="89273"/>
                    <a:pt x="1108760" y="121495"/>
                  </a:cubicBezTo>
                  <a:lnTo>
                    <a:pt x="1108760" y="121495"/>
                  </a:lnTo>
                  <a:cubicBezTo>
                    <a:pt x="1108760" y="153718"/>
                    <a:pt x="1095959" y="184621"/>
                    <a:pt x="1073175" y="207406"/>
                  </a:cubicBezTo>
                  <a:cubicBezTo>
                    <a:pt x="1050390" y="230190"/>
                    <a:pt x="1019487" y="242991"/>
                    <a:pt x="987264"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14" name="TextBox 14"/>
            <p:cNvSpPr txBox="1"/>
            <p:nvPr/>
          </p:nvSpPr>
          <p:spPr>
            <a:xfrm>
              <a:off x="0" y="-28575"/>
              <a:ext cx="1108760" cy="271566"/>
            </a:xfrm>
            <a:prstGeom prst="rect">
              <a:avLst/>
            </a:prstGeom>
          </p:spPr>
          <p:txBody>
            <a:bodyPr lIns="50800" tIns="50800" rIns="50800" bIns="50800" rtlCol="0" anchor="ctr"/>
            <a:lstStyle/>
            <a:p>
              <a:pPr marL="0" lvl="0" indent="0" algn="ctr">
                <a:lnSpc>
                  <a:spcPts val="2126"/>
                </a:lnSpc>
              </a:pPr>
              <a:endParaRPr/>
            </a:p>
          </p:txBody>
        </p:sp>
      </p:grpSp>
      <p:grpSp>
        <p:nvGrpSpPr>
          <p:cNvPr id="15" name="Group 15"/>
          <p:cNvGrpSpPr/>
          <p:nvPr/>
        </p:nvGrpSpPr>
        <p:grpSpPr>
          <a:xfrm>
            <a:off x="7643180" y="5799922"/>
            <a:ext cx="1081897" cy="989754"/>
            <a:chOff x="0" y="0"/>
            <a:chExt cx="265612" cy="242991"/>
          </a:xfrm>
        </p:grpSpPr>
        <p:sp>
          <p:nvSpPr>
            <p:cNvPr id="16" name="Freeform 16"/>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17" name="TextBox 17"/>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grpSp>
        <p:nvGrpSpPr>
          <p:cNvPr id="18" name="Group 18"/>
          <p:cNvGrpSpPr/>
          <p:nvPr/>
        </p:nvGrpSpPr>
        <p:grpSpPr>
          <a:xfrm>
            <a:off x="12815424" y="4339529"/>
            <a:ext cx="4636648" cy="989754"/>
            <a:chOff x="0" y="0"/>
            <a:chExt cx="1138325" cy="242991"/>
          </a:xfrm>
        </p:grpSpPr>
        <p:sp>
          <p:nvSpPr>
            <p:cNvPr id="19" name="Freeform 19"/>
            <p:cNvSpPr/>
            <p:nvPr/>
          </p:nvSpPr>
          <p:spPr>
            <a:xfrm>
              <a:off x="0" y="0"/>
              <a:ext cx="1138325" cy="242991"/>
            </a:xfrm>
            <a:custGeom>
              <a:avLst/>
              <a:gdLst/>
              <a:ahLst/>
              <a:cxnLst/>
              <a:rect l="l" t="t" r="r" b="b"/>
              <a:pathLst>
                <a:path w="1138325" h="242991">
                  <a:moveTo>
                    <a:pt x="121495" y="0"/>
                  </a:moveTo>
                  <a:lnTo>
                    <a:pt x="1016830" y="0"/>
                  </a:lnTo>
                  <a:cubicBezTo>
                    <a:pt x="1049053" y="0"/>
                    <a:pt x="1079955" y="12800"/>
                    <a:pt x="1102740" y="35585"/>
                  </a:cubicBezTo>
                  <a:cubicBezTo>
                    <a:pt x="1125525" y="58370"/>
                    <a:pt x="1138325" y="89273"/>
                    <a:pt x="1138325" y="121495"/>
                  </a:cubicBezTo>
                  <a:lnTo>
                    <a:pt x="1138325" y="121495"/>
                  </a:lnTo>
                  <a:cubicBezTo>
                    <a:pt x="1138325" y="153718"/>
                    <a:pt x="1125525" y="184621"/>
                    <a:pt x="1102740" y="207406"/>
                  </a:cubicBezTo>
                  <a:cubicBezTo>
                    <a:pt x="1079955" y="230190"/>
                    <a:pt x="1049053" y="242991"/>
                    <a:pt x="1016830"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20" name="TextBox 20"/>
            <p:cNvSpPr txBox="1"/>
            <p:nvPr/>
          </p:nvSpPr>
          <p:spPr>
            <a:xfrm>
              <a:off x="0" y="-28575"/>
              <a:ext cx="1138325" cy="271566"/>
            </a:xfrm>
            <a:prstGeom prst="rect">
              <a:avLst/>
            </a:prstGeom>
          </p:spPr>
          <p:txBody>
            <a:bodyPr lIns="50800" tIns="50800" rIns="50800" bIns="50800" rtlCol="0" anchor="ctr"/>
            <a:lstStyle/>
            <a:p>
              <a:pPr marL="0" lvl="0" indent="0" algn="ctr">
                <a:lnSpc>
                  <a:spcPts val="2126"/>
                </a:lnSpc>
              </a:pPr>
              <a:endParaRPr/>
            </a:p>
          </p:txBody>
        </p:sp>
      </p:grpSp>
      <p:grpSp>
        <p:nvGrpSpPr>
          <p:cNvPr id="21" name="Group 21"/>
          <p:cNvGrpSpPr/>
          <p:nvPr/>
        </p:nvGrpSpPr>
        <p:grpSpPr>
          <a:xfrm>
            <a:off x="12530876" y="4339529"/>
            <a:ext cx="1081897" cy="989754"/>
            <a:chOff x="0" y="0"/>
            <a:chExt cx="265612" cy="242991"/>
          </a:xfrm>
        </p:grpSpPr>
        <p:sp>
          <p:nvSpPr>
            <p:cNvPr id="22" name="Freeform 22"/>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23" name="TextBox 23"/>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grpSp>
        <p:nvGrpSpPr>
          <p:cNvPr id="24" name="Group 24"/>
          <p:cNvGrpSpPr/>
          <p:nvPr/>
        </p:nvGrpSpPr>
        <p:grpSpPr>
          <a:xfrm>
            <a:off x="12815424" y="5799922"/>
            <a:ext cx="4636648" cy="989754"/>
            <a:chOff x="0" y="0"/>
            <a:chExt cx="1138325" cy="242991"/>
          </a:xfrm>
        </p:grpSpPr>
        <p:sp>
          <p:nvSpPr>
            <p:cNvPr id="25" name="Freeform 25"/>
            <p:cNvSpPr/>
            <p:nvPr/>
          </p:nvSpPr>
          <p:spPr>
            <a:xfrm>
              <a:off x="0" y="0"/>
              <a:ext cx="1138325" cy="242991"/>
            </a:xfrm>
            <a:custGeom>
              <a:avLst/>
              <a:gdLst/>
              <a:ahLst/>
              <a:cxnLst/>
              <a:rect l="l" t="t" r="r" b="b"/>
              <a:pathLst>
                <a:path w="1138325" h="242991">
                  <a:moveTo>
                    <a:pt x="121495" y="0"/>
                  </a:moveTo>
                  <a:lnTo>
                    <a:pt x="1016830" y="0"/>
                  </a:lnTo>
                  <a:cubicBezTo>
                    <a:pt x="1049053" y="0"/>
                    <a:pt x="1079955" y="12800"/>
                    <a:pt x="1102740" y="35585"/>
                  </a:cubicBezTo>
                  <a:cubicBezTo>
                    <a:pt x="1125525" y="58370"/>
                    <a:pt x="1138325" y="89273"/>
                    <a:pt x="1138325" y="121495"/>
                  </a:cubicBezTo>
                  <a:lnTo>
                    <a:pt x="1138325" y="121495"/>
                  </a:lnTo>
                  <a:cubicBezTo>
                    <a:pt x="1138325" y="153718"/>
                    <a:pt x="1125525" y="184621"/>
                    <a:pt x="1102740" y="207406"/>
                  </a:cubicBezTo>
                  <a:cubicBezTo>
                    <a:pt x="1079955" y="230190"/>
                    <a:pt x="1049053" y="242991"/>
                    <a:pt x="1016830"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C2756">
                    <a:alpha val="100000"/>
                  </a:srgbClr>
                </a:gs>
                <a:gs pos="100000">
                  <a:srgbClr val="1E527D">
                    <a:alpha val="100000"/>
                  </a:srgbClr>
                </a:gs>
              </a:gsLst>
              <a:lin ang="0"/>
            </a:gradFill>
          </p:spPr>
        </p:sp>
        <p:sp>
          <p:nvSpPr>
            <p:cNvPr id="26" name="TextBox 26"/>
            <p:cNvSpPr txBox="1"/>
            <p:nvPr/>
          </p:nvSpPr>
          <p:spPr>
            <a:xfrm>
              <a:off x="0" y="-28575"/>
              <a:ext cx="1138325" cy="271566"/>
            </a:xfrm>
            <a:prstGeom prst="rect">
              <a:avLst/>
            </a:prstGeom>
          </p:spPr>
          <p:txBody>
            <a:bodyPr lIns="50800" tIns="50800" rIns="50800" bIns="50800" rtlCol="0" anchor="ctr"/>
            <a:lstStyle/>
            <a:p>
              <a:pPr marL="0" lvl="0" indent="0" algn="ctr">
                <a:lnSpc>
                  <a:spcPts val="2126"/>
                </a:lnSpc>
              </a:pPr>
              <a:endParaRPr/>
            </a:p>
          </p:txBody>
        </p:sp>
      </p:grpSp>
      <p:grpSp>
        <p:nvGrpSpPr>
          <p:cNvPr id="27" name="Group 27"/>
          <p:cNvGrpSpPr/>
          <p:nvPr/>
        </p:nvGrpSpPr>
        <p:grpSpPr>
          <a:xfrm>
            <a:off x="12530876" y="5799922"/>
            <a:ext cx="1081897" cy="989754"/>
            <a:chOff x="0" y="0"/>
            <a:chExt cx="265612" cy="242991"/>
          </a:xfrm>
        </p:grpSpPr>
        <p:sp>
          <p:nvSpPr>
            <p:cNvPr id="28" name="Freeform 28"/>
            <p:cNvSpPr/>
            <p:nvPr/>
          </p:nvSpPr>
          <p:spPr>
            <a:xfrm>
              <a:off x="0" y="0"/>
              <a:ext cx="265612" cy="242991"/>
            </a:xfrm>
            <a:custGeom>
              <a:avLst/>
              <a:gdLst/>
              <a:ahLst/>
              <a:cxnLst/>
              <a:rect l="l" t="t" r="r" b="b"/>
              <a:pathLst>
                <a:path w="265612" h="242991">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1">
              <a:gsLst>
                <a:gs pos="0">
                  <a:srgbClr val="00B3FF">
                    <a:alpha val="100000"/>
                  </a:srgbClr>
                </a:gs>
                <a:gs pos="100000">
                  <a:srgbClr val="3A459B">
                    <a:alpha val="100000"/>
                  </a:srgbClr>
                </a:gs>
              </a:gsLst>
              <a:lin ang="0"/>
            </a:gradFill>
          </p:spPr>
        </p:sp>
        <p:sp>
          <p:nvSpPr>
            <p:cNvPr id="29" name="TextBox 29"/>
            <p:cNvSpPr txBox="1"/>
            <p:nvPr/>
          </p:nvSpPr>
          <p:spPr>
            <a:xfrm>
              <a:off x="0" y="-28575"/>
              <a:ext cx="265612" cy="271566"/>
            </a:xfrm>
            <a:prstGeom prst="rect">
              <a:avLst/>
            </a:prstGeom>
          </p:spPr>
          <p:txBody>
            <a:bodyPr lIns="50800" tIns="50800" rIns="50800" bIns="50800" rtlCol="0" anchor="ctr"/>
            <a:lstStyle/>
            <a:p>
              <a:pPr marL="0" lvl="0" indent="0" algn="ctr">
                <a:lnSpc>
                  <a:spcPts val="2126"/>
                </a:lnSpc>
              </a:pPr>
              <a:endParaRPr/>
            </a:p>
          </p:txBody>
        </p:sp>
      </p:grpSp>
      <p:sp>
        <p:nvSpPr>
          <p:cNvPr id="30" name="Freeform 30"/>
          <p:cNvSpPr/>
          <p:nvPr/>
        </p:nvSpPr>
        <p:spPr>
          <a:xfrm>
            <a:off x="-60597" y="2878933"/>
            <a:ext cx="7561347" cy="7039926"/>
          </a:xfrm>
          <a:custGeom>
            <a:avLst/>
            <a:gdLst/>
            <a:ahLst/>
            <a:cxnLst/>
            <a:rect l="l" t="t" r="r" b="b"/>
            <a:pathLst>
              <a:path w="9066939" h="7039926">
                <a:moveTo>
                  <a:pt x="0" y="0"/>
                </a:moveTo>
                <a:lnTo>
                  <a:pt x="9066940" y="0"/>
                </a:lnTo>
                <a:lnTo>
                  <a:pt x="9066940" y="7039926"/>
                </a:lnTo>
                <a:lnTo>
                  <a:pt x="0" y="7039926"/>
                </a:lnTo>
                <a:lnTo>
                  <a:pt x="0" y="0"/>
                </a:lnTo>
                <a:close/>
              </a:path>
            </a:pathLst>
          </a:custGeom>
          <a:blipFill>
            <a:blip r:embed="rId3"/>
            <a:stretch>
              <a:fillRect/>
            </a:stretch>
          </a:blipFill>
        </p:spPr>
      </p:sp>
      <p:sp>
        <p:nvSpPr>
          <p:cNvPr id="31" name="TextBox 31"/>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32" name="TextBox 32"/>
          <p:cNvSpPr txBox="1"/>
          <p:nvPr/>
        </p:nvSpPr>
        <p:spPr>
          <a:xfrm>
            <a:off x="6328986" y="9239250"/>
            <a:ext cx="5378501" cy="262003"/>
          </a:xfrm>
          <a:prstGeom prst="rect">
            <a:avLst/>
          </a:prstGeom>
        </p:spPr>
        <p:txBody>
          <a:bodyPr lIns="0" tIns="0" rIns="0" bIns="0" rtlCol="0" anchor="t">
            <a:spAutoFit/>
          </a:bodyPr>
          <a:lstStyle/>
          <a:p>
            <a:pPr marL="0" lvl="0" indent="0" algn="ctr">
              <a:lnSpc>
                <a:spcPts val="1709"/>
              </a:lnSpc>
              <a:spcBef>
                <a:spcPct val="0"/>
              </a:spcBef>
            </a:pPr>
            <a:r>
              <a:rPr lang="en-US" sz="1643" b="1">
                <a:solidFill>
                  <a:srgbClr val="050056"/>
                </a:solidFill>
                <a:latin typeface="Agrandir Bold"/>
                <a:ea typeface="Agrandir Bold"/>
                <a:cs typeface="Agrandir Bold"/>
                <a:sym typeface="Agrandir Bold"/>
              </a:rPr>
              <a:t>ARYA TEJA | GROUP-1</a:t>
            </a:r>
          </a:p>
        </p:txBody>
      </p:sp>
      <p:sp>
        <p:nvSpPr>
          <p:cNvPr id="33" name="TextBox 33"/>
          <p:cNvSpPr txBox="1"/>
          <p:nvPr/>
        </p:nvSpPr>
        <p:spPr>
          <a:xfrm>
            <a:off x="7604463" y="2947535"/>
            <a:ext cx="7561347" cy="896235"/>
          </a:xfrm>
          <a:prstGeom prst="rect">
            <a:avLst/>
          </a:prstGeom>
        </p:spPr>
        <p:txBody>
          <a:bodyPr lIns="0" tIns="0" rIns="0" bIns="0" rtlCol="0" anchor="t">
            <a:spAutoFit/>
          </a:bodyPr>
          <a:lstStyle/>
          <a:p>
            <a:pPr marL="0" lvl="0" indent="0" algn="l">
              <a:lnSpc>
                <a:spcPts val="6870"/>
              </a:lnSpc>
            </a:pPr>
            <a:r>
              <a:rPr lang="en-US" sz="6606">
                <a:solidFill>
                  <a:srgbClr val="050056"/>
                </a:solidFill>
                <a:latin typeface="Anton"/>
                <a:ea typeface="Anton"/>
                <a:cs typeface="Anton"/>
                <a:sym typeface="Anton"/>
              </a:rPr>
              <a:t>EVALUATION METRICS</a:t>
            </a:r>
          </a:p>
        </p:txBody>
      </p:sp>
      <p:sp>
        <p:nvSpPr>
          <p:cNvPr id="34" name="TextBox 34"/>
          <p:cNvSpPr txBox="1"/>
          <p:nvPr/>
        </p:nvSpPr>
        <p:spPr>
          <a:xfrm>
            <a:off x="9098487" y="4451866"/>
            <a:ext cx="2173187" cy="781800"/>
          </a:xfrm>
          <a:prstGeom prst="rect">
            <a:avLst/>
          </a:prstGeom>
        </p:spPr>
        <p:txBody>
          <a:bodyPr lIns="0" tIns="0" rIns="0" bIns="0" rtlCol="0" anchor="t">
            <a:spAutoFit/>
          </a:bodyPr>
          <a:lstStyle/>
          <a:p>
            <a:pPr marL="0" lvl="0" indent="0" algn="l">
              <a:lnSpc>
                <a:spcPts val="2847"/>
              </a:lnSpc>
            </a:pPr>
            <a:r>
              <a:rPr lang="en-US" sz="2565">
                <a:solidFill>
                  <a:srgbClr val="FFFFFF"/>
                </a:solidFill>
                <a:latin typeface="Agrandir"/>
                <a:ea typeface="Agrandir"/>
                <a:cs typeface="Agrandir"/>
                <a:sym typeface="Agrandir"/>
              </a:rPr>
              <a:t>Accuracy &amp; Precision</a:t>
            </a:r>
          </a:p>
        </p:txBody>
      </p:sp>
      <p:sp>
        <p:nvSpPr>
          <p:cNvPr id="35" name="TextBox 35"/>
          <p:cNvSpPr txBox="1"/>
          <p:nvPr/>
        </p:nvSpPr>
        <p:spPr>
          <a:xfrm>
            <a:off x="7927728" y="4514681"/>
            <a:ext cx="797349" cy="525185"/>
          </a:xfrm>
          <a:prstGeom prst="rect">
            <a:avLst/>
          </a:prstGeom>
        </p:spPr>
        <p:txBody>
          <a:bodyPr lIns="0" tIns="0" rIns="0" bIns="0" rtlCol="0" anchor="t">
            <a:spAutoFit/>
          </a:bodyPr>
          <a:lstStyle/>
          <a:p>
            <a:pPr marL="0" lvl="0" indent="0" algn="l">
              <a:lnSpc>
                <a:spcPts val="3688"/>
              </a:lnSpc>
            </a:pPr>
            <a:r>
              <a:rPr lang="en-US" sz="2752" b="1">
                <a:solidFill>
                  <a:srgbClr val="FFFFFF"/>
                </a:solidFill>
                <a:latin typeface="Agrandir Bold"/>
                <a:ea typeface="Agrandir Bold"/>
                <a:cs typeface="Agrandir Bold"/>
                <a:sym typeface="Agrandir Bold"/>
              </a:rPr>
              <a:t>01.</a:t>
            </a:r>
          </a:p>
        </p:txBody>
      </p:sp>
      <p:sp>
        <p:nvSpPr>
          <p:cNvPr id="36" name="TextBox 36"/>
          <p:cNvSpPr txBox="1"/>
          <p:nvPr/>
        </p:nvSpPr>
        <p:spPr>
          <a:xfrm>
            <a:off x="9098487" y="5891914"/>
            <a:ext cx="2173187" cy="813133"/>
          </a:xfrm>
          <a:prstGeom prst="rect">
            <a:avLst/>
          </a:prstGeom>
        </p:spPr>
        <p:txBody>
          <a:bodyPr lIns="0" tIns="0" rIns="0" bIns="0" rtlCol="0" anchor="t">
            <a:spAutoFit/>
          </a:bodyPr>
          <a:lstStyle/>
          <a:p>
            <a:pPr marL="0" lvl="0" indent="0" algn="l">
              <a:lnSpc>
                <a:spcPts val="2976"/>
              </a:lnSpc>
            </a:pPr>
            <a:r>
              <a:rPr lang="en-US" sz="2565">
                <a:solidFill>
                  <a:srgbClr val="FFFFFF"/>
                </a:solidFill>
                <a:latin typeface="Agrandir"/>
                <a:ea typeface="Agrandir"/>
                <a:cs typeface="Agrandir"/>
                <a:sym typeface="Agrandir"/>
              </a:rPr>
              <a:t>Recall &amp; F1-Score</a:t>
            </a:r>
          </a:p>
        </p:txBody>
      </p:sp>
      <p:sp>
        <p:nvSpPr>
          <p:cNvPr id="37" name="TextBox 37"/>
          <p:cNvSpPr txBox="1"/>
          <p:nvPr/>
        </p:nvSpPr>
        <p:spPr>
          <a:xfrm>
            <a:off x="7927728" y="5975074"/>
            <a:ext cx="797349" cy="525185"/>
          </a:xfrm>
          <a:prstGeom prst="rect">
            <a:avLst/>
          </a:prstGeom>
        </p:spPr>
        <p:txBody>
          <a:bodyPr lIns="0" tIns="0" rIns="0" bIns="0" rtlCol="0" anchor="t">
            <a:spAutoFit/>
          </a:bodyPr>
          <a:lstStyle/>
          <a:p>
            <a:pPr marL="0" lvl="0" indent="0" algn="l">
              <a:lnSpc>
                <a:spcPts val="3688"/>
              </a:lnSpc>
            </a:pPr>
            <a:r>
              <a:rPr lang="en-US" sz="2752" b="1">
                <a:solidFill>
                  <a:srgbClr val="FFFFFF"/>
                </a:solidFill>
                <a:latin typeface="Agrandir Bold"/>
                <a:ea typeface="Agrandir Bold"/>
                <a:cs typeface="Agrandir Bold"/>
                <a:sym typeface="Agrandir Bold"/>
              </a:rPr>
              <a:t>02.</a:t>
            </a:r>
          </a:p>
        </p:txBody>
      </p:sp>
      <p:sp>
        <p:nvSpPr>
          <p:cNvPr id="38" name="TextBox 38"/>
          <p:cNvSpPr txBox="1"/>
          <p:nvPr/>
        </p:nvSpPr>
        <p:spPr>
          <a:xfrm>
            <a:off x="13897632" y="4411019"/>
            <a:ext cx="2777801" cy="441658"/>
          </a:xfrm>
          <a:prstGeom prst="rect">
            <a:avLst/>
          </a:prstGeom>
        </p:spPr>
        <p:txBody>
          <a:bodyPr lIns="0" tIns="0" rIns="0" bIns="0" rtlCol="0" anchor="t">
            <a:spAutoFit/>
          </a:bodyPr>
          <a:lstStyle/>
          <a:p>
            <a:pPr marL="0" lvl="0" indent="0" algn="l">
              <a:lnSpc>
                <a:spcPts val="2976"/>
              </a:lnSpc>
            </a:pPr>
            <a:r>
              <a:rPr lang="en-US" sz="2565">
                <a:solidFill>
                  <a:srgbClr val="FFFFFF"/>
                </a:solidFill>
                <a:latin typeface="Agrandir"/>
                <a:ea typeface="Agrandir"/>
                <a:cs typeface="Agrandir"/>
                <a:sym typeface="Agrandir"/>
              </a:rPr>
              <a:t>Training Time</a:t>
            </a:r>
          </a:p>
        </p:txBody>
      </p:sp>
      <p:sp>
        <p:nvSpPr>
          <p:cNvPr id="39" name="TextBox 39"/>
          <p:cNvSpPr txBox="1"/>
          <p:nvPr/>
        </p:nvSpPr>
        <p:spPr>
          <a:xfrm>
            <a:off x="12815424" y="4514681"/>
            <a:ext cx="797349" cy="525185"/>
          </a:xfrm>
          <a:prstGeom prst="rect">
            <a:avLst/>
          </a:prstGeom>
        </p:spPr>
        <p:txBody>
          <a:bodyPr lIns="0" tIns="0" rIns="0" bIns="0" rtlCol="0" anchor="t">
            <a:spAutoFit/>
          </a:bodyPr>
          <a:lstStyle/>
          <a:p>
            <a:pPr marL="0" lvl="0" indent="0" algn="l">
              <a:lnSpc>
                <a:spcPts val="3688"/>
              </a:lnSpc>
            </a:pPr>
            <a:r>
              <a:rPr lang="en-US" sz="2752" b="1">
                <a:solidFill>
                  <a:srgbClr val="FFFFFF"/>
                </a:solidFill>
                <a:latin typeface="Agrandir Bold"/>
                <a:ea typeface="Agrandir Bold"/>
                <a:cs typeface="Agrandir Bold"/>
                <a:sym typeface="Agrandir Bold"/>
              </a:rPr>
              <a:t>03.</a:t>
            </a:r>
          </a:p>
        </p:txBody>
      </p:sp>
      <p:sp>
        <p:nvSpPr>
          <p:cNvPr id="40" name="TextBox 40"/>
          <p:cNvSpPr txBox="1"/>
          <p:nvPr/>
        </p:nvSpPr>
        <p:spPr>
          <a:xfrm>
            <a:off x="13966264" y="5908839"/>
            <a:ext cx="2173187" cy="747458"/>
          </a:xfrm>
          <a:prstGeom prst="rect">
            <a:avLst/>
          </a:prstGeom>
        </p:spPr>
        <p:txBody>
          <a:bodyPr lIns="0" tIns="0" rIns="0" bIns="0" rtlCol="0" anchor="t">
            <a:spAutoFit/>
          </a:bodyPr>
          <a:lstStyle/>
          <a:p>
            <a:pPr marL="0" lvl="0" indent="0" algn="l">
              <a:lnSpc>
                <a:spcPts val="2668"/>
              </a:lnSpc>
            </a:pPr>
            <a:r>
              <a:rPr lang="en-US" sz="2565">
                <a:solidFill>
                  <a:srgbClr val="FFFFFF"/>
                </a:solidFill>
                <a:latin typeface="Agrandir"/>
                <a:ea typeface="Agrandir"/>
                <a:cs typeface="Agrandir"/>
                <a:sym typeface="Agrandir"/>
              </a:rPr>
              <a:t>Confusion Matrix</a:t>
            </a:r>
          </a:p>
        </p:txBody>
      </p:sp>
      <p:sp>
        <p:nvSpPr>
          <p:cNvPr id="41" name="TextBox 41"/>
          <p:cNvSpPr txBox="1"/>
          <p:nvPr/>
        </p:nvSpPr>
        <p:spPr>
          <a:xfrm>
            <a:off x="12815424" y="5975074"/>
            <a:ext cx="797349" cy="525185"/>
          </a:xfrm>
          <a:prstGeom prst="rect">
            <a:avLst/>
          </a:prstGeom>
        </p:spPr>
        <p:txBody>
          <a:bodyPr lIns="0" tIns="0" rIns="0" bIns="0" rtlCol="0" anchor="t">
            <a:spAutoFit/>
          </a:bodyPr>
          <a:lstStyle/>
          <a:p>
            <a:pPr marL="0" lvl="0" indent="0" algn="l">
              <a:lnSpc>
                <a:spcPts val="3688"/>
              </a:lnSpc>
            </a:pPr>
            <a:r>
              <a:rPr lang="en-US" sz="2752" b="1">
                <a:solidFill>
                  <a:srgbClr val="FFFFFF"/>
                </a:solidFill>
                <a:latin typeface="Agrandir Bold"/>
                <a:ea typeface="Agrandir Bold"/>
                <a:cs typeface="Agrandir Bold"/>
                <a:sym typeface="Agrandir Bold"/>
              </a:rPr>
              <a:t>04.</a:t>
            </a:r>
          </a:p>
        </p:txBody>
      </p:sp>
      <p:sp>
        <p:nvSpPr>
          <p:cNvPr id="42" name="TextBox 42"/>
          <p:cNvSpPr txBox="1"/>
          <p:nvPr/>
        </p:nvSpPr>
        <p:spPr>
          <a:xfrm>
            <a:off x="7643180" y="7180566"/>
            <a:ext cx="9266357" cy="1345033"/>
          </a:xfrm>
          <a:prstGeom prst="rect">
            <a:avLst/>
          </a:prstGeom>
        </p:spPr>
        <p:txBody>
          <a:bodyPr lIns="0" tIns="0" rIns="0" bIns="0" rtlCol="0" anchor="t">
            <a:spAutoFit/>
          </a:bodyPr>
          <a:lstStyle/>
          <a:p>
            <a:pPr marL="0" lvl="0" indent="0" algn="l">
              <a:lnSpc>
                <a:spcPts val="3437"/>
              </a:lnSpc>
            </a:pPr>
            <a:r>
              <a:rPr lang="en-US" sz="2565">
                <a:solidFill>
                  <a:srgbClr val="050056"/>
                </a:solidFill>
                <a:latin typeface="Agrandir"/>
                <a:ea typeface="Agrandir"/>
                <a:cs typeface="Agrandir"/>
                <a:sym typeface="Agrandir"/>
              </a:rPr>
              <a:t>These key metrics enable comprehensive model evaluation, measuring correctness, relevance, efficiency, and detailed error analysis for informed model selection.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sp>
        <p:nvSpPr>
          <p:cNvPr id="6" name="Freeform 6"/>
          <p:cNvSpPr/>
          <p:nvPr/>
        </p:nvSpPr>
        <p:spPr>
          <a:xfrm>
            <a:off x="-113438" y="3100601"/>
            <a:ext cx="3840111" cy="5110129"/>
          </a:xfrm>
          <a:custGeom>
            <a:avLst/>
            <a:gdLst/>
            <a:ahLst/>
            <a:cxnLst/>
            <a:rect l="l" t="t" r="r" b="b"/>
            <a:pathLst>
              <a:path w="3840111" h="5110129">
                <a:moveTo>
                  <a:pt x="0" y="0"/>
                </a:moveTo>
                <a:lnTo>
                  <a:pt x="3840112" y="0"/>
                </a:lnTo>
                <a:lnTo>
                  <a:pt x="3840112" y="5110129"/>
                </a:lnTo>
                <a:lnTo>
                  <a:pt x="0" y="5110129"/>
                </a:lnTo>
                <a:lnTo>
                  <a:pt x="0" y="0"/>
                </a:lnTo>
                <a:close/>
              </a:path>
            </a:pathLst>
          </a:custGeom>
          <a:blipFill>
            <a:blip r:embed="rId3"/>
            <a:stretch>
              <a:fillRect/>
            </a:stretch>
          </a:blipFill>
        </p:spPr>
      </p:sp>
      <p:sp>
        <p:nvSpPr>
          <p:cNvPr id="7" name="TextBox 7"/>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8" name="TextBox 8"/>
          <p:cNvSpPr txBox="1"/>
          <p:nvPr/>
        </p:nvSpPr>
        <p:spPr>
          <a:xfrm>
            <a:off x="6328986" y="9239250"/>
            <a:ext cx="5378501" cy="220125"/>
          </a:xfrm>
          <a:prstGeom prst="rect">
            <a:avLst/>
          </a:prstGeom>
        </p:spPr>
        <p:txBody>
          <a:bodyPr lIns="0" tIns="0" rIns="0" bIns="0" rtlCol="0" anchor="t">
            <a:spAutoFit/>
          </a:bodyPr>
          <a:lstStyle/>
          <a:p>
            <a:pPr marL="0" lvl="0" indent="0" algn="ctr">
              <a:lnSpc>
                <a:spcPts val="1709"/>
              </a:lnSpc>
              <a:spcBef>
                <a:spcPct val="0"/>
              </a:spcBef>
            </a:pPr>
            <a:r>
              <a:rPr lang="en-US" sz="1643" b="1" dirty="0">
                <a:solidFill>
                  <a:schemeClr val="accent1">
                    <a:lumMod val="40000"/>
                    <a:lumOff val="60000"/>
                  </a:schemeClr>
                </a:solidFill>
                <a:latin typeface="Agrandir Bold"/>
                <a:ea typeface="Agrandir Bold"/>
                <a:cs typeface="Agrandir Bold"/>
                <a:sym typeface="Agrandir Bold"/>
              </a:rPr>
              <a:t>WWW.REALLYGREATSITE.COM</a:t>
            </a:r>
          </a:p>
        </p:txBody>
      </p:sp>
      <p:sp>
        <p:nvSpPr>
          <p:cNvPr id="9" name="TextBox 9"/>
          <p:cNvSpPr txBox="1"/>
          <p:nvPr/>
        </p:nvSpPr>
        <p:spPr>
          <a:xfrm>
            <a:off x="5237563" y="2660080"/>
            <a:ext cx="7561347" cy="1438214"/>
          </a:xfrm>
          <a:prstGeom prst="rect">
            <a:avLst/>
          </a:prstGeom>
        </p:spPr>
        <p:txBody>
          <a:bodyPr lIns="0" tIns="0" rIns="0" bIns="0" rtlCol="0" anchor="t">
            <a:spAutoFit/>
          </a:bodyPr>
          <a:lstStyle/>
          <a:p>
            <a:pPr marL="0" lvl="0" indent="0" algn="ctr">
              <a:lnSpc>
                <a:spcPts val="5610"/>
              </a:lnSpc>
            </a:pPr>
            <a:r>
              <a:rPr lang="en-US" sz="5394" dirty="0">
                <a:solidFill>
                  <a:schemeClr val="accent1">
                    <a:lumMod val="40000"/>
                    <a:lumOff val="60000"/>
                  </a:schemeClr>
                </a:solidFill>
                <a:latin typeface="Anton"/>
                <a:ea typeface="Anton"/>
                <a:cs typeface="Anton"/>
                <a:sym typeface="Anton"/>
              </a:rPr>
              <a:t>COMPARISON &amp; VISUALIZATION</a:t>
            </a:r>
          </a:p>
        </p:txBody>
      </p:sp>
      <p:sp>
        <p:nvSpPr>
          <p:cNvPr id="10" name="TextBox 10"/>
          <p:cNvSpPr txBox="1"/>
          <p:nvPr/>
        </p:nvSpPr>
        <p:spPr>
          <a:xfrm>
            <a:off x="4185559" y="4056129"/>
            <a:ext cx="9488253" cy="3903504"/>
          </a:xfrm>
          <a:prstGeom prst="rect">
            <a:avLst/>
          </a:prstGeom>
        </p:spPr>
        <p:txBody>
          <a:bodyPr lIns="0" tIns="0" rIns="0" bIns="0" rtlCol="0" anchor="t">
            <a:spAutoFit/>
          </a:bodyPr>
          <a:lstStyle/>
          <a:p>
            <a:pPr marL="0" lvl="0" indent="0" algn="ctr">
              <a:lnSpc>
                <a:spcPts val="3437"/>
              </a:lnSpc>
            </a:pPr>
            <a:r>
              <a:rPr lang="en-US" sz="2565" dirty="0">
                <a:solidFill>
                  <a:schemeClr val="accent1">
                    <a:lumMod val="40000"/>
                    <a:lumOff val="60000"/>
                  </a:schemeClr>
                </a:solidFill>
                <a:latin typeface="Agrandir"/>
                <a:ea typeface="Agrandir"/>
                <a:cs typeface="Agrandir"/>
                <a:sym typeface="Agrandir"/>
              </a:rPr>
              <a:t>The module generates comprehensive comparative tables displaying metric values for each evaluated model. Bar charts and line graphs illustrate performance metrics across models, enabling quick visual comparison. Heatmaps and scatter plots reveal patterns in accuracy, precision, and recall. These visualizations facilitate rapid identification of model strengths and weaknesses, supporting data-driven decisions for model selection in predictive maintenance applications.</a:t>
            </a:r>
          </a:p>
        </p:txBody>
      </p:sp>
      <p:sp>
        <p:nvSpPr>
          <p:cNvPr id="11" name="Freeform 11"/>
          <p:cNvSpPr/>
          <p:nvPr/>
        </p:nvSpPr>
        <p:spPr>
          <a:xfrm>
            <a:off x="12748052" y="2713876"/>
            <a:ext cx="5120149" cy="5105286"/>
          </a:xfrm>
          <a:custGeom>
            <a:avLst/>
            <a:gdLst/>
            <a:ahLst/>
            <a:cxnLst/>
            <a:rect l="l" t="t" r="r" b="b"/>
            <a:pathLst>
              <a:path w="5120149" h="5105286">
                <a:moveTo>
                  <a:pt x="0" y="0"/>
                </a:moveTo>
                <a:lnTo>
                  <a:pt x="5120148" y="0"/>
                </a:lnTo>
                <a:lnTo>
                  <a:pt x="5120148" y="5105286"/>
                </a:lnTo>
                <a:lnTo>
                  <a:pt x="0" y="5105286"/>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sp>
        <p:nvSpPr>
          <p:cNvPr id="6" name="Freeform 6"/>
          <p:cNvSpPr/>
          <p:nvPr/>
        </p:nvSpPr>
        <p:spPr>
          <a:xfrm>
            <a:off x="10920389" y="287172"/>
            <a:ext cx="7278607" cy="10056797"/>
          </a:xfrm>
          <a:custGeom>
            <a:avLst/>
            <a:gdLst/>
            <a:ahLst/>
            <a:cxnLst/>
            <a:rect l="l" t="t" r="r" b="b"/>
            <a:pathLst>
              <a:path w="7278607" h="10056797">
                <a:moveTo>
                  <a:pt x="0" y="0"/>
                </a:moveTo>
                <a:lnTo>
                  <a:pt x="7278607" y="0"/>
                </a:lnTo>
                <a:lnTo>
                  <a:pt x="7278607" y="10056797"/>
                </a:lnTo>
                <a:lnTo>
                  <a:pt x="0" y="10056797"/>
                </a:lnTo>
                <a:lnTo>
                  <a:pt x="0" y="0"/>
                </a:lnTo>
                <a:close/>
              </a:path>
            </a:pathLst>
          </a:custGeom>
          <a:blipFill>
            <a:blip r:embed="rId3"/>
            <a:stretch>
              <a:fillRect/>
            </a:stretch>
          </a:blipFill>
        </p:spPr>
      </p:sp>
      <p:sp>
        <p:nvSpPr>
          <p:cNvPr id="7" name="TextBox 7"/>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8" name="TextBox 8"/>
          <p:cNvSpPr txBox="1"/>
          <p:nvPr/>
        </p:nvSpPr>
        <p:spPr>
          <a:xfrm>
            <a:off x="6328986" y="9239250"/>
            <a:ext cx="5378501" cy="249854"/>
          </a:xfrm>
          <a:prstGeom prst="rect">
            <a:avLst/>
          </a:prstGeom>
        </p:spPr>
        <p:txBody>
          <a:bodyPr lIns="0" tIns="0" rIns="0" bIns="0" rtlCol="0" anchor="t">
            <a:spAutoFit/>
          </a:bodyPr>
          <a:lstStyle/>
          <a:p>
            <a:pPr marL="0" lvl="0" indent="0" algn="ctr">
              <a:lnSpc>
                <a:spcPts val="1575"/>
              </a:lnSpc>
              <a:spcBef>
                <a:spcPct val="0"/>
              </a:spcBef>
            </a:pPr>
            <a:r>
              <a:rPr lang="en-US" sz="1514" b="1">
                <a:solidFill>
                  <a:srgbClr val="050056"/>
                </a:solidFill>
                <a:latin typeface="Agrandir Bold"/>
                <a:ea typeface="Agrandir Bold"/>
                <a:cs typeface="Agrandir Bold"/>
                <a:sym typeface="Agrandir Bold"/>
              </a:rPr>
              <a:t>GROUP-1 | ARYA TEJA</a:t>
            </a:r>
          </a:p>
        </p:txBody>
      </p:sp>
      <p:sp>
        <p:nvSpPr>
          <p:cNvPr id="9" name="TextBox 9"/>
          <p:cNvSpPr txBox="1"/>
          <p:nvPr/>
        </p:nvSpPr>
        <p:spPr>
          <a:xfrm>
            <a:off x="1880722" y="3076974"/>
            <a:ext cx="7875700" cy="896235"/>
          </a:xfrm>
          <a:prstGeom prst="rect">
            <a:avLst/>
          </a:prstGeom>
        </p:spPr>
        <p:txBody>
          <a:bodyPr lIns="0" tIns="0" rIns="0" bIns="0" rtlCol="0" anchor="t">
            <a:spAutoFit/>
          </a:bodyPr>
          <a:lstStyle/>
          <a:p>
            <a:pPr marL="0" lvl="0" indent="0" algn="l">
              <a:lnSpc>
                <a:spcPts val="6870"/>
              </a:lnSpc>
            </a:pPr>
            <a:r>
              <a:rPr lang="en-US" sz="6606">
                <a:solidFill>
                  <a:srgbClr val="050056"/>
                </a:solidFill>
                <a:latin typeface="Anton"/>
                <a:ea typeface="Anton"/>
                <a:cs typeface="Anton"/>
                <a:sym typeface="Anton"/>
              </a:rPr>
              <a:t>BEST MODEL SELECTION</a:t>
            </a:r>
          </a:p>
        </p:txBody>
      </p:sp>
      <p:sp>
        <p:nvSpPr>
          <p:cNvPr id="10" name="TextBox 10"/>
          <p:cNvSpPr txBox="1"/>
          <p:nvPr/>
        </p:nvSpPr>
        <p:spPr>
          <a:xfrm>
            <a:off x="1880722" y="4161437"/>
            <a:ext cx="8819991" cy="4463293"/>
          </a:xfrm>
          <a:prstGeom prst="rect">
            <a:avLst/>
          </a:prstGeom>
        </p:spPr>
        <p:txBody>
          <a:bodyPr lIns="0" tIns="0" rIns="0" bIns="0" rtlCol="0" anchor="t">
            <a:spAutoFit/>
          </a:bodyPr>
          <a:lstStyle/>
          <a:p>
            <a:pPr marL="0" lvl="0" indent="0" algn="l">
              <a:lnSpc>
                <a:spcPts val="3167"/>
              </a:lnSpc>
            </a:pPr>
            <a:r>
              <a:rPr lang="en-US" sz="2364">
                <a:solidFill>
                  <a:srgbClr val="050056"/>
                </a:solidFill>
                <a:latin typeface="Agrandir"/>
                <a:ea typeface="Agrandir"/>
                <a:cs typeface="Agrandir"/>
                <a:sym typeface="Agrandir"/>
              </a:rPr>
              <a:t>Our module automates the best model selection process through comprehensive evaluation metrics. The workflow follows a clear path: Input Models → Performance Evaluation → Visualization → Best Model Selection → Final Report. Each model is assessed using accuracy, precision, recall, and F1-score to identify the optimal choice. Confusion matrices provide detailed prediction insights, revealing false positives and false negatives. The automated report generation consolidates all performance data into a complete summary, enabling stakeholders to make informed decisions about which ML model best serves their predictive maintenance needs.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grpSp>
        <p:nvGrpSpPr>
          <p:cNvPr id="3" name="Group 3"/>
          <p:cNvGrpSpPr/>
          <p:nvPr/>
        </p:nvGrpSpPr>
        <p:grpSpPr>
          <a:xfrm>
            <a:off x="-514350" y="-1221579"/>
            <a:ext cx="20831283" cy="3086100"/>
            <a:chOff x="0" y="0"/>
            <a:chExt cx="5486429" cy="812800"/>
          </a:xfrm>
        </p:grpSpPr>
        <p:sp>
          <p:nvSpPr>
            <p:cNvPr id="4" name="Freeform 4"/>
            <p:cNvSpPr/>
            <p:nvPr/>
          </p:nvSpPr>
          <p:spPr>
            <a:xfrm>
              <a:off x="0" y="0"/>
              <a:ext cx="5486429" cy="812800"/>
            </a:xfrm>
            <a:custGeom>
              <a:avLst/>
              <a:gdLst/>
              <a:ahLst/>
              <a:cxnLst/>
              <a:rect l="l" t="t" r="r" b="b"/>
              <a:pathLst>
                <a:path w="5486429" h="812800">
                  <a:moveTo>
                    <a:pt x="0" y="0"/>
                  </a:moveTo>
                  <a:lnTo>
                    <a:pt x="5486429" y="0"/>
                  </a:lnTo>
                  <a:lnTo>
                    <a:pt x="5486429" y="812800"/>
                  </a:lnTo>
                  <a:lnTo>
                    <a:pt x="0" y="812800"/>
                  </a:lnTo>
                  <a:close/>
                </a:path>
              </a:pathLst>
            </a:custGeom>
            <a:gradFill rotWithShape="1">
              <a:gsLst>
                <a:gs pos="0">
                  <a:srgbClr val="0C2756">
                    <a:alpha val="100000"/>
                  </a:srgbClr>
                </a:gs>
                <a:gs pos="100000">
                  <a:srgbClr val="1E527D">
                    <a:alpha val="100000"/>
                  </a:srgbClr>
                </a:gs>
              </a:gsLst>
              <a:lin ang="0"/>
            </a:gradFill>
          </p:spPr>
        </p:sp>
        <p:sp>
          <p:nvSpPr>
            <p:cNvPr id="5" name="TextBox 5"/>
            <p:cNvSpPr txBox="1"/>
            <p:nvPr/>
          </p:nvSpPr>
          <p:spPr>
            <a:xfrm>
              <a:off x="0" y="-28575"/>
              <a:ext cx="5486429" cy="841375"/>
            </a:xfrm>
            <a:prstGeom prst="rect">
              <a:avLst/>
            </a:prstGeom>
          </p:spPr>
          <p:txBody>
            <a:bodyPr lIns="50800" tIns="50800" rIns="50800" bIns="50800" rtlCol="0" anchor="ctr"/>
            <a:lstStyle/>
            <a:p>
              <a:pPr marL="0" lvl="0" indent="0" algn="ctr">
                <a:lnSpc>
                  <a:spcPts val="2126"/>
                </a:lnSpc>
              </a:pPr>
              <a:endParaRPr/>
            </a:p>
          </p:txBody>
        </p:sp>
      </p:grpSp>
      <p:sp>
        <p:nvSpPr>
          <p:cNvPr id="6" name="Freeform 6"/>
          <p:cNvSpPr/>
          <p:nvPr/>
        </p:nvSpPr>
        <p:spPr>
          <a:xfrm>
            <a:off x="11678828" y="2898388"/>
            <a:ext cx="5451932" cy="5472275"/>
          </a:xfrm>
          <a:custGeom>
            <a:avLst/>
            <a:gdLst/>
            <a:ahLst/>
            <a:cxnLst/>
            <a:rect l="l" t="t" r="r" b="b"/>
            <a:pathLst>
              <a:path w="5451932" h="5472275">
                <a:moveTo>
                  <a:pt x="0" y="0"/>
                </a:moveTo>
                <a:lnTo>
                  <a:pt x="5451932" y="0"/>
                </a:lnTo>
                <a:lnTo>
                  <a:pt x="5451932" y="5472275"/>
                </a:lnTo>
                <a:lnTo>
                  <a:pt x="0" y="5472275"/>
                </a:lnTo>
                <a:lnTo>
                  <a:pt x="0" y="0"/>
                </a:lnTo>
                <a:close/>
              </a:path>
            </a:pathLst>
          </a:custGeom>
          <a:blipFill>
            <a:blip r:embed="rId3"/>
            <a:stretch>
              <a:fillRect/>
            </a:stretch>
          </a:blipFill>
        </p:spPr>
      </p:sp>
      <p:sp>
        <p:nvSpPr>
          <p:cNvPr id="7" name="TextBox 7"/>
          <p:cNvSpPr txBox="1"/>
          <p:nvPr/>
        </p:nvSpPr>
        <p:spPr>
          <a:xfrm>
            <a:off x="6733357" y="1000125"/>
            <a:ext cx="4392657" cy="336800"/>
          </a:xfrm>
          <a:prstGeom prst="rect">
            <a:avLst/>
          </a:prstGeom>
        </p:spPr>
        <p:txBody>
          <a:bodyPr lIns="0" tIns="0" rIns="0" bIns="0" rtlCol="0" anchor="t">
            <a:spAutoFit/>
          </a:bodyPr>
          <a:lstStyle/>
          <a:p>
            <a:pPr marL="0" lvl="0" indent="0" algn="ctr">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8" name="TextBox 8"/>
          <p:cNvSpPr txBox="1"/>
          <p:nvPr/>
        </p:nvSpPr>
        <p:spPr>
          <a:xfrm>
            <a:off x="6328986" y="9239250"/>
            <a:ext cx="5378501" cy="249854"/>
          </a:xfrm>
          <a:prstGeom prst="rect">
            <a:avLst/>
          </a:prstGeom>
        </p:spPr>
        <p:txBody>
          <a:bodyPr lIns="0" tIns="0" rIns="0" bIns="0" rtlCol="0" anchor="t">
            <a:spAutoFit/>
          </a:bodyPr>
          <a:lstStyle/>
          <a:p>
            <a:pPr marL="0" lvl="0" indent="0" algn="ctr">
              <a:lnSpc>
                <a:spcPts val="1575"/>
              </a:lnSpc>
              <a:spcBef>
                <a:spcPct val="0"/>
              </a:spcBef>
            </a:pPr>
            <a:r>
              <a:rPr lang="en-US" sz="1514" b="1">
                <a:solidFill>
                  <a:srgbClr val="050056"/>
                </a:solidFill>
                <a:latin typeface="Agrandir Bold"/>
                <a:ea typeface="Agrandir Bold"/>
                <a:cs typeface="Agrandir Bold"/>
                <a:sym typeface="Agrandir Bold"/>
              </a:rPr>
              <a:t>ARYA TEJA | GROUP-1</a:t>
            </a:r>
          </a:p>
        </p:txBody>
      </p:sp>
      <p:sp>
        <p:nvSpPr>
          <p:cNvPr id="9" name="TextBox 9"/>
          <p:cNvSpPr txBox="1"/>
          <p:nvPr/>
        </p:nvSpPr>
        <p:spPr>
          <a:xfrm>
            <a:off x="1853636" y="3520768"/>
            <a:ext cx="7875700" cy="896235"/>
          </a:xfrm>
          <a:prstGeom prst="rect">
            <a:avLst/>
          </a:prstGeom>
        </p:spPr>
        <p:txBody>
          <a:bodyPr lIns="0" tIns="0" rIns="0" bIns="0" rtlCol="0" anchor="t">
            <a:spAutoFit/>
          </a:bodyPr>
          <a:lstStyle/>
          <a:p>
            <a:pPr marL="0" lvl="0" indent="0" algn="l">
              <a:lnSpc>
                <a:spcPts val="6870"/>
              </a:lnSpc>
            </a:pPr>
            <a:r>
              <a:rPr lang="en-US" sz="6606" dirty="0">
                <a:solidFill>
                  <a:schemeClr val="accent1">
                    <a:lumMod val="40000"/>
                    <a:lumOff val="60000"/>
                  </a:schemeClr>
                </a:solidFill>
                <a:latin typeface="Anton"/>
                <a:ea typeface="Anton"/>
                <a:cs typeface="Anton"/>
                <a:sym typeface="Anton"/>
              </a:rPr>
              <a:t>CONCLUSION</a:t>
            </a:r>
          </a:p>
        </p:txBody>
      </p:sp>
      <p:sp>
        <p:nvSpPr>
          <p:cNvPr id="10" name="TextBox 10"/>
          <p:cNvSpPr txBox="1"/>
          <p:nvPr/>
        </p:nvSpPr>
        <p:spPr>
          <a:xfrm>
            <a:off x="1978845" y="4643385"/>
            <a:ext cx="8896528" cy="4492897"/>
          </a:xfrm>
          <a:prstGeom prst="rect">
            <a:avLst/>
          </a:prstGeom>
        </p:spPr>
        <p:txBody>
          <a:bodyPr lIns="0" tIns="0" rIns="0" bIns="0" rtlCol="0" anchor="t">
            <a:spAutoFit/>
          </a:bodyPr>
          <a:lstStyle/>
          <a:p>
            <a:pPr marL="0" lvl="0" indent="0" algn="l">
              <a:lnSpc>
                <a:spcPts val="3167"/>
              </a:lnSpc>
            </a:pPr>
            <a:r>
              <a:rPr lang="en-US" sz="2364" dirty="0">
                <a:solidFill>
                  <a:schemeClr val="accent1">
                    <a:lumMod val="40000"/>
                    <a:lumOff val="60000"/>
                  </a:schemeClr>
                </a:solidFill>
                <a:latin typeface="Agrandir"/>
                <a:ea typeface="Agrandir"/>
                <a:cs typeface="Agrandir"/>
                <a:sym typeface="Agrandir"/>
              </a:rPr>
              <a:t>Key Achievements:</a:t>
            </a:r>
          </a:p>
          <a:p>
            <a:pPr marL="0" lvl="0" indent="0" algn="l">
              <a:lnSpc>
                <a:spcPts val="3167"/>
              </a:lnSpc>
            </a:pPr>
            <a:r>
              <a:rPr lang="en-US" sz="2364" dirty="0">
                <a:solidFill>
                  <a:schemeClr val="accent1">
                    <a:lumMod val="40000"/>
                    <a:lumOff val="60000"/>
                  </a:schemeClr>
                </a:solidFill>
                <a:latin typeface="Agrandir"/>
                <a:ea typeface="Agrandir"/>
                <a:cs typeface="Agrandir"/>
                <a:sym typeface="Agrandir"/>
              </a:rPr>
              <a:t>✓ Successfully designed a comprehensive ML model evaluation framework</a:t>
            </a:r>
          </a:p>
          <a:p>
            <a:pPr marL="0" lvl="0" indent="0" algn="l">
              <a:lnSpc>
                <a:spcPts val="3167"/>
              </a:lnSpc>
            </a:pPr>
            <a:r>
              <a:rPr lang="en-US" sz="2364" dirty="0">
                <a:solidFill>
                  <a:schemeClr val="accent1">
                    <a:lumMod val="40000"/>
                    <a:lumOff val="60000"/>
                  </a:schemeClr>
                </a:solidFill>
                <a:latin typeface="Agrandir"/>
                <a:ea typeface="Agrandir"/>
                <a:cs typeface="Agrandir"/>
                <a:sym typeface="Agrandir"/>
              </a:rPr>
              <a:t>✓ Enables fair comparison among competing predictive models</a:t>
            </a:r>
          </a:p>
          <a:p>
            <a:pPr marL="0" lvl="0" indent="0" algn="l">
              <a:lnSpc>
                <a:spcPts val="3167"/>
              </a:lnSpc>
            </a:pPr>
            <a:r>
              <a:rPr lang="en-US" sz="2364" dirty="0">
                <a:solidFill>
                  <a:schemeClr val="accent1">
                    <a:lumMod val="40000"/>
                    <a:lumOff val="60000"/>
                  </a:schemeClr>
                </a:solidFill>
                <a:latin typeface="Agrandir"/>
                <a:ea typeface="Agrandir"/>
                <a:cs typeface="Agrandir"/>
                <a:sym typeface="Agrandir"/>
              </a:rPr>
              <a:t>✓ Supports reliable selection of efficient models for predictive maintenance</a:t>
            </a:r>
          </a:p>
          <a:p>
            <a:pPr marL="0" lvl="0" indent="0" algn="l">
              <a:lnSpc>
                <a:spcPts val="3167"/>
              </a:lnSpc>
            </a:pPr>
            <a:r>
              <a:rPr lang="en-US" sz="2364" dirty="0">
                <a:solidFill>
                  <a:schemeClr val="accent1">
                    <a:lumMod val="40000"/>
                    <a:lumOff val="60000"/>
                  </a:schemeClr>
                </a:solidFill>
                <a:latin typeface="Agrandir"/>
                <a:ea typeface="Agrandir"/>
                <a:cs typeface="Agrandir"/>
                <a:sym typeface="Agrandir"/>
              </a:rPr>
              <a:t>✓ Improves reliability and interpretability of machine learning results</a:t>
            </a:r>
          </a:p>
          <a:p>
            <a:pPr marL="0" lvl="0" indent="0" algn="l">
              <a:lnSpc>
                <a:spcPts val="3167"/>
              </a:lnSpc>
            </a:pPr>
            <a:r>
              <a:rPr lang="en-US" sz="2364" dirty="0">
                <a:solidFill>
                  <a:schemeClr val="accent1">
                    <a:lumMod val="40000"/>
                    <a:lumOff val="60000"/>
                  </a:schemeClr>
                </a:solidFill>
                <a:latin typeface="Agrandir"/>
                <a:ea typeface="Agrandir"/>
                <a:cs typeface="Agrandir"/>
                <a:sym typeface="Agrandir"/>
              </a:rPr>
              <a:t>✓ Establishes a standardized approach for ongoing model performance monitoring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2756">
                <a:alpha val="100000"/>
              </a:srgbClr>
            </a:gs>
            <a:gs pos="100000">
              <a:srgbClr val="1E527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558578" y="-1201787"/>
            <a:ext cx="13008829" cy="130088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B9B9B">
                    <a:alpha val="0"/>
                  </a:srgbClr>
                </a:gs>
                <a:gs pos="100000">
                  <a:srgbClr val="FFFFFF">
                    <a:alpha val="77000"/>
                  </a:srgbClr>
                </a:gs>
              </a:gsLst>
              <a:lin ang="0"/>
            </a:gradFill>
          </p:spPr>
        </p:sp>
        <p:sp>
          <p:nvSpPr>
            <p:cNvPr id="4" name="TextBox 4"/>
            <p:cNvSpPr txBox="1"/>
            <p:nvPr/>
          </p:nvSpPr>
          <p:spPr>
            <a:xfrm>
              <a:off x="76200" y="47625"/>
              <a:ext cx="660400" cy="688975"/>
            </a:xfrm>
            <a:prstGeom prst="rect">
              <a:avLst/>
            </a:prstGeom>
          </p:spPr>
          <p:txBody>
            <a:bodyPr lIns="50800" tIns="50800" rIns="50800" bIns="50800" rtlCol="0" anchor="ctr"/>
            <a:lstStyle/>
            <a:p>
              <a:pPr marL="0" lvl="0" indent="0" algn="ctr">
                <a:lnSpc>
                  <a:spcPts val="2126"/>
                </a:lnSpc>
              </a:pPr>
              <a:endParaRPr/>
            </a:p>
          </p:txBody>
        </p:sp>
      </p:grpSp>
      <p:sp>
        <p:nvSpPr>
          <p:cNvPr id="5" name="Freeform 5"/>
          <p:cNvSpPr/>
          <p:nvPr/>
        </p:nvSpPr>
        <p:spPr>
          <a:xfrm>
            <a:off x="9904482" y="1022601"/>
            <a:ext cx="7415350" cy="8016319"/>
          </a:xfrm>
          <a:custGeom>
            <a:avLst/>
            <a:gdLst/>
            <a:ahLst/>
            <a:cxnLst/>
            <a:rect l="l" t="t" r="r" b="b"/>
            <a:pathLst>
              <a:path w="7415350" h="8016319">
                <a:moveTo>
                  <a:pt x="0" y="0"/>
                </a:moveTo>
                <a:lnTo>
                  <a:pt x="7415350" y="0"/>
                </a:lnTo>
                <a:lnTo>
                  <a:pt x="7415350" y="8016319"/>
                </a:lnTo>
                <a:lnTo>
                  <a:pt x="0" y="8016319"/>
                </a:lnTo>
                <a:lnTo>
                  <a:pt x="0" y="0"/>
                </a:lnTo>
                <a:close/>
              </a:path>
            </a:pathLst>
          </a:custGeom>
          <a:blipFill>
            <a:blip r:embed="rId2"/>
            <a:stretch>
              <a:fillRect/>
            </a:stretch>
          </a:blipFill>
        </p:spPr>
      </p:sp>
      <p:sp>
        <p:nvSpPr>
          <p:cNvPr id="6" name="TextBox 6"/>
          <p:cNvSpPr txBox="1"/>
          <p:nvPr/>
        </p:nvSpPr>
        <p:spPr>
          <a:xfrm>
            <a:off x="1546963" y="1000125"/>
            <a:ext cx="4392657" cy="336800"/>
          </a:xfrm>
          <a:prstGeom prst="rect">
            <a:avLst/>
          </a:prstGeom>
        </p:spPr>
        <p:txBody>
          <a:bodyPr lIns="0" tIns="0" rIns="0" bIns="0" rtlCol="0" anchor="t">
            <a:spAutoFit/>
          </a:bodyPr>
          <a:lstStyle/>
          <a:p>
            <a:pPr marL="0" lvl="0" indent="0" algn="l">
              <a:lnSpc>
                <a:spcPts val="2125"/>
              </a:lnSpc>
              <a:spcBef>
                <a:spcPct val="0"/>
              </a:spcBef>
            </a:pPr>
            <a:r>
              <a:rPr lang="en-US" sz="2043" b="1">
                <a:solidFill>
                  <a:srgbClr val="FFFFFF"/>
                </a:solidFill>
                <a:latin typeface="Agrandir Bold"/>
                <a:ea typeface="Agrandir Bold"/>
                <a:cs typeface="Agrandir Bold"/>
                <a:sym typeface="Agrandir Bold"/>
              </a:rPr>
              <a:t>PREDICTIVE MAINTENANCE</a:t>
            </a:r>
          </a:p>
        </p:txBody>
      </p:sp>
      <p:sp>
        <p:nvSpPr>
          <p:cNvPr id="7" name="TextBox 7"/>
          <p:cNvSpPr txBox="1"/>
          <p:nvPr/>
        </p:nvSpPr>
        <p:spPr>
          <a:xfrm>
            <a:off x="1546963" y="3129843"/>
            <a:ext cx="5881764" cy="4255689"/>
          </a:xfrm>
          <a:prstGeom prst="rect">
            <a:avLst/>
          </a:prstGeom>
        </p:spPr>
        <p:txBody>
          <a:bodyPr lIns="0" tIns="0" rIns="0" bIns="0" rtlCol="0" anchor="t">
            <a:spAutoFit/>
          </a:bodyPr>
          <a:lstStyle/>
          <a:p>
            <a:pPr marL="0" lvl="0" indent="0" algn="l">
              <a:lnSpc>
                <a:spcPts val="16403"/>
              </a:lnSpc>
            </a:pPr>
            <a:r>
              <a:rPr lang="en-US" sz="15773">
                <a:solidFill>
                  <a:srgbClr val="FFFFFF"/>
                </a:solidFill>
                <a:latin typeface="Anton"/>
                <a:ea typeface="Anton"/>
                <a:cs typeface="Anton"/>
                <a:sym typeface="Anton"/>
              </a:rPr>
              <a:t>THANK</a:t>
            </a:r>
          </a:p>
          <a:p>
            <a:pPr marL="0" lvl="0" indent="0" algn="l">
              <a:lnSpc>
                <a:spcPts val="16403"/>
              </a:lnSpc>
            </a:pPr>
            <a:r>
              <a:rPr lang="en-US" sz="15773">
                <a:solidFill>
                  <a:srgbClr val="FFFFFF"/>
                </a:solidFill>
                <a:latin typeface="Anton"/>
                <a:ea typeface="Anton"/>
                <a:cs typeface="Anton"/>
                <a:sym typeface="Anton"/>
              </a:rPr>
              <a:t>YOU!</a:t>
            </a:r>
          </a:p>
        </p:txBody>
      </p:sp>
      <p:sp>
        <p:nvSpPr>
          <p:cNvPr id="8" name="TextBox 8"/>
          <p:cNvSpPr txBox="1"/>
          <p:nvPr/>
        </p:nvSpPr>
        <p:spPr>
          <a:xfrm>
            <a:off x="1675552" y="9239250"/>
            <a:ext cx="5378501" cy="262003"/>
          </a:xfrm>
          <a:prstGeom prst="rect">
            <a:avLst/>
          </a:prstGeom>
        </p:spPr>
        <p:txBody>
          <a:bodyPr lIns="0" tIns="0" rIns="0" bIns="0" rtlCol="0" anchor="t">
            <a:spAutoFit/>
          </a:bodyPr>
          <a:lstStyle/>
          <a:p>
            <a:pPr marL="0" lvl="0" indent="0" algn="l">
              <a:lnSpc>
                <a:spcPts val="1709"/>
              </a:lnSpc>
              <a:spcBef>
                <a:spcPct val="0"/>
              </a:spcBef>
            </a:pPr>
            <a:r>
              <a:rPr lang="en-US" sz="1643" b="1">
                <a:solidFill>
                  <a:srgbClr val="FFFFFF"/>
                </a:solidFill>
                <a:latin typeface="Agrandir Bold"/>
                <a:ea typeface="Agrandir Bold"/>
                <a:cs typeface="Agrandir Bold"/>
                <a:sym typeface="Agrandir Bold"/>
              </a:rPr>
              <a:t>BYE | PRESENTED BY ARYA TEJA (GROUP-1)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534</Words>
  <Application>Microsoft Office PowerPoint</Application>
  <PresentationFormat>Custom</PresentationFormat>
  <Paragraphs>62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Agrandir</vt:lpstr>
      <vt:lpstr>Anton</vt:lpstr>
      <vt:lpstr>Agrandir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&amp; Process Intelligence: ML Evaluation and Comparison</dc:title>
  <cp:lastModifiedBy>shiva ganesh</cp:lastModifiedBy>
  <cp:revision>2</cp:revision>
  <dcterms:created xsi:type="dcterms:W3CDTF">2006-08-16T00:00:00Z</dcterms:created>
  <dcterms:modified xsi:type="dcterms:W3CDTF">2026-07-23T16:56:39Z</dcterms:modified>
  <dc:identifier>DAHQOBZa-8A</dc:identifier>
</cp:coreProperties>
</file>