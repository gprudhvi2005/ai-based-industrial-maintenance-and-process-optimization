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8.pn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8.png"/><Relationship Id="rId7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16.png"/><Relationship Id="rId4" Type="http://schemas.openxmlformats.org/officeDocument/2006/relationships/image" Target="../media/image19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675" y="2172741"/>
            <a:ext cx="2914650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639466"/>
            <a:ext cx="11601450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0F172A"/>
                </a:solidFill>
                <a:latin typeface="Poppins"/>
              </a:rPr>
              <a:t>Machine Learning Models for Predictive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4056608"/>
            <a:ext cx="8572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0284C7"/>
                </a:solidFill>
                <a:latin typeface="Lato"/>
              </a:rPr>
              <a:t>A Comparative Study of Logistic Regression, Decision Trees, and Support Vector Machines (SVM) on the AI4I 2020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68451"/>
            <a:ext cx="5334000" cy="50199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66925"/>
            <a:ext cx="53340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1. Logistic Regression: Working Principle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2206376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369A1"/>
                </a:solidFill>
                <a:latin typeface="Poppins SemiBold"/>
              </a:rPr>
              <a:t>Linear Probability 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654051"/>
            <a:ext cx="5334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Logistic Regression models the probability of binary machine failure using the Sigmoid activation function applied to a linear combination of sensor inputs.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7178" y="3224137"/>
            <a:ext cx="1017091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3720851"/>
            <a:ext cx="1982688" cy="21624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6025" y="2076450"/>
            <a:ext cx="5314950" cy="3600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4875" y="4213324"/>
            <a:ext cx="5000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Dataset Role: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Evaluates individual continuous sensor features (Air/Process Temperature, Speed, Torque, Tool Wear).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4880074"/>
            <a:ext cx="5000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Decision Boundary: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Constructs a linear hyper-plane to divide normal operation from failure states.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237136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903886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5334000" cy="3076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38387"/>
            <a:ext cx="5334000" cy="3076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1. Logistic Regression: Pros &amp; Cons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6775" y="2671762"/>
            <a:ext cx="4980622" cy="33337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59669"/>
                </a:solidFill>
                <a:latin typeface="Poppins SemiBold"/>
              </a:rPr>
              <a:t>Advantages (Pros)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671762"/>
            <a:ext cx="4980622" cy="33337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DC2626"/>
                </a:solidFill>
                <a:latin typeface="Poppins SemiBold"/>
              </a:rPr>
              <a:t>Disadvantages (Cons)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719387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719387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50" y="3119437"/>
            <a:ext cx="4410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High Interpretability: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Coefficients directly quantify the risk impact of each sensor metric (e.g., impact of +1 Nm torque).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49" y="3876674"/>
            <a:ext cx="4410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475569"/>
                </a:solidFill>
                <a:latin typeface="Lato"/>
              </a:rPr>
              <a:t>Computational Efficiency:</a:t>
            </a:r>
            <a:r>
              <a:rPr sz="1350" b="0" i="0" u="none" dirty="0">
                <a:solidFill>
                  <a:srgbClr val="475569"/>
                </a:solidFill>
                <a:latin typeface="Lato"/>
              </a:rPr>
              <a:t> Extremely fast training and near-zero latency prediction for edge hardware.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4452937"/>
            <a:ext cx="4410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Probabilistic Output: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Returns continuous failure probabilities rather than strict binary decisions.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5150" y="3119437"/>
            <a:ext cx="4410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475569"/>
                </a:solidFill>
                <a:latin typeface="Lato"/>
              </a:rPr>
              <a:t>Linearity Assumption:</a:t>
            </a:r>
            <a:r>
              <a:rPr sz="1350" b="0" i="0" u="none" dirty="0">
                <a:solidFill>
                  <a:srgbClr val="475569"/>
                </a:solidFill>
                <a:latin typeface="Lato"/>
              </a:rPr>
              <a:t> Fails to capture non-linear failure triggers like Power Failure ( 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5150" y="3786187"/>
            <a:ext cx="4410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Class Imbalance Sensitivity: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Performs poorly on rare failure classes (3.39% in AI4I dataset) without reweighting.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5150" y="4452937"/>
            <a:ext cx="4410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Feature Interaction Limit: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Cannot detect complex multi-sensor threshold combinations automatically.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0" y="3429000"/>
            <a:ext cx="647997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3143250"/>
            <a:ext cx="17145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378" y="3895725"/>
            <a:ext cx="17145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4476750"/>
            <a:ext cx="17145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3143250"/>
            <a:ext cx="142875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3810000"/>
            <a:ext cx="142875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4476750"/>
            <a:ext cx="1428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6692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2. Decision Tree Classifier: Working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2043112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369A1"/>
                </a:solidFill>
                <a:latin typeface="Poppins SemiBold"/>
              </a:rPr>
              <a:t>Non-Linear Hierarchical Partitioning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490787"/>
            <a:ext cx="5334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Decision Trees recursively split the sensor feature space into axis-aligned rectangular decision regions using Information Gain or Gini Impurity reduction.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76450"/>
            <a:ext cx="5314950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4875" y="3452812"/>
            <a:ext cx="50006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Capturing Complex Rules: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Naturally replicates physical threshold conditions present in the AI4I dataset (e.g., </a:t>
            </a:r>
            <a:r>
              <a:rPr sz="1350" b="0" i="1" u="none">
                <a:solidFill>
                  <a:srgbClr val="475569"/>
                </a:solidFill>
                <a:latin typeface="Lato"/>
              </a:rPr>
              <a:t>If Tool Wear &gt; 200 min AND Torque &gt; 50 Nm → Overstrain Failure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4376737"/>
            <a:ext cx="5000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Non-Monotonic Split: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Handles abrupt physical failure boundaries without needing mathematical transformation.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5043487"/>
            <a:ext cx="5000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Feature Scale Invariant: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Operates directly on unscaled raw sensor values (rpm, K, Nm, min).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76625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00550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067300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9800"/>
            <a:ext cx="5334000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09800"/>
            <a:ext cx="5334000" cy="3333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2. Decision Tree Classifier: Pros &amp; Cons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6775" y="2543175"/>
            <a:ext cx="4980622" cy="33337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59669"/>
                </a:solidFill>
                <a:latin typeface="Poppins SemiBold"/>
              </a:rPr>
              <a:t>Advantages (Pros)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543175"/>
            <a:ext cx="4980622" cy="33337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DC2626"/>
                </a:solidFill>
                <a:latin typeface="Poppins SemiBold"/>
              </a:rPr>
              <a:t>Disadvantages (Cons)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590800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590800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50" y="2990850"/>
            <a:ext cx="4410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Intuitive IF-THEN Logic: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Visual decision rules map directly to maintenance engineer domain knowledge.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3657600"/>
            <a:ext cx="4410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Automatic Feature Interactions: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Detects multi-sensor conditions (e.g., Heat Dissipation Failure logic) naturally.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4324350"/>
            <a:ext cx="4410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No Normalization Needed: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Works seamlessly across different units without feature scaling.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5150" y="2990850"/>
            <a:ext cx="44100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High Variance &amp; Overfitting: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Unpruned trees easily memorize noise, causing poor generalization on new sensor telemetry.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5150" y="3914775"/>
            <a:ext cx="4410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Axis-Aligned Boundaries: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Struggles with diagonal or smooth curved decision boundaries.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5150" y="4581525"/>
            <a:ext cx="4410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Instability: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Small changes in operational sensor noise can drastically alter tree structure.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3014662"/>
            <a:ext cx="17145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3681412"/>
            <a:ext cx="17145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4348162"/>
            <a:ext cx="17145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3014662"/>
            <a:ext cx="142875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3938587"/>
            <a:ext cx="142875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4605337"/>
            <a:ext cx="1428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6692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3. Support Vector Machine (SVM): Working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2043112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369A1"/>
                </a:solidFill>
                <a:latin typeface="Poppins SemiBold"/>
              </a:rPr>
              <a:t>Maximum Margin Separation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490787"/>
            <a:ext cx="5334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SVM projects telemetry feature vectors into higher-dimensional space using Radial Basis Function (RBF) kernels to establish an optimal maximum-margin hyperplane.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76450"/>
            <a:ext cx="5314950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4875" y="3452812"/>
            <a:ext cx="50006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475569"/>
                </a:solidFill>
                <a:latin typeface="Lato"/>
              </a:rPr>
              <a:t>Kernel Trick:</a:t>
            </a:r>
            <a:r>
              <a:rPr sz="1350" b="0" i="0" u="none" dirty="0">
                <a:solidFill>
                  <a:srgbClr val="475569"/>
                </a:solidFill>
                <a:latin typeface="Lato"/>
              </a:rPr>
              <a:t> Maps non-linearly separable failure clusters (e.g., Power Failures at high/low rpm bounds) into linearly separable 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4376737"/>
            <a:ext cx="5000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Cost Parameter ( ):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Controls trade-off between maximizing margin width and penalizing misclassified failure instances.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5043487"/>
            <a:ext cx="5000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Support Vectors: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Focuses decision boundary solely on critical boundary samples near failure thresholds.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76625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00550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9131" y="4443412"/>
            <a:ext cx="114448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067300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9800"/>
            <a:ext cx="5334000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09800"/>
            <a:ext cx="5334000" cy="3333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3. Support Vector Machine (SVM): Pros &amp; Cons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6775" y="2543175"/>
            <a:ext cx="4980622" cy="33337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59669"/>
                </a:solidFill>
                <a:latin typeface="Poppins SemiBold"/>
              </a:rPr>
              <a:t>Advantages (Pros)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543175"/>
            <a:ext cx="4980622" cy="33337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DC2626"/>
                </a:solidFill>
                <a:latin typeface="Poppins SemiBold"/>
              </a:rPr>
              <a:t>Disadvantages (Cons)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590800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590800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50" y="2990850"/>
            <a:ext cx="4410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Superior Classification Accuracy: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RBF Kernel achieves high F1-Scores on complex industrial multi-sensor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3657600"/>
            <a:ext cx="4410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Robust in High Dimensions: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Highly effective even with added engineered domain features.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4324350"/>
            <a:ext cx="4410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Class Weight Customization: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Cost penalization effective for handling AI4I's 3.39% failure class imbalance.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5150" y="2990850"/>
            <a:ext cx="4410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Black-Box Nature: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Kernel transformations make decision boundaries difficult to interpret for shop-floor operators.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5150" y="3657600"/>
            <a:ext cx="44100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Computational Complexity: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Training time scales quadratically with large streaming dataset size.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5150" y="4324350"/>
            <a:ext cx="44100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Strict Preprocessing Needed: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Requires careful feature scaling (StandardScaler/MinMax) and hyperparameter tuning ( ).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3458" y="4171950"/>
            <a:ext cx="641895" cy="208359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5700" y="4905375"/>
            <a:ext cx="328463" cy="1619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" y="3014662"/>
            <a:ext cx="17145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" y="3681412"/>
            <a:ext cx="17145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" y="4348162"/>
            <a:ext cx="17145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1775" y="3014662"/>
            <a:ext cx="142875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1775" y="3681412"/>
            <a:ext cx="142875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1775" y="4348162"/>
            <a:ext cx="1428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200275"/>
            <a:ext cx="7620000" cy="1085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725" y="3952875"/>
            <a:ext cx="6686550" cy="514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275" y="476250"/>
            <a:ext cx="11601450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Poppins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571625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Lato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3650" y="2447925"/>
            <a:ext cx="7124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Summary:</a:t>
            </a:r>
            <a:r>
              <a:rPr sz="1350" b="0" i="0" u="none">
                <a:solidFill>
                  <a:srgbClr val="0F172A"/>
                </a:solidFill>
                <a:latin typeface="Lato"/>
              </a:rPr>
              <a:t> Logistic Regression offers quick baseline interpretability, Decision Trees provide clear IF-THEN rules, and SVM delivers maximum predictive accuracy for non-linear failures.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0" y="4133850"/>
            <a:ext cx="219075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655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Lato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GOPISETTI PRUDHVI-[CB.SC.U4AIE23027]</cp:lastModifiedBy>
  <cp:revision>3</cp:revision>
  <dcterms:created xsi:type="dcterms:W3CDTF">2013-01-27T09:14:16Z</dcterms:created>
  <dcterms:modified xsi:type="dcterms:W3CDTF">2026-07-24T13:27:53Z</dcterms:modified>
  <cp:category/>
</cp:coreProperties>
</file>