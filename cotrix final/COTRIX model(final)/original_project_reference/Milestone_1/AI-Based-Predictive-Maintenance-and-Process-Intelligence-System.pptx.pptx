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oboto Slab" charset="1" panose="00000000000000000000"/>
      <p:regular r:id="rId20"/>
    </p:embeddedFont>
    <p:embeddedFont>
      <p:font typeface="Roboto Bold" charset="1" panose="02000000000000000000"/>
      <p:regular r:id="rId21"/>
    </p:embeddedFont>
    <p:embeddedFont>
      <p:font typeface="Roboto" charset="1" panose="02000000000000000000"/>
      <p:regular r:id="rId22"/>
    </p:embeddedFont>
    <p:embeddedFont>
      <p:font typeface="Arimo Bold" charset="1" panose="020B0704020202020204"/>
      <p:regular r:id="rId25"/>
    </p:embeddedFont>
    <p:embeddedFont>
      <p:font typeface="Arimo" charset="1" panose="020B0604020202020204"/>
      <p:regular r:id="rId26"/>
    </p:embeddedFont>
    <p:embeddedFont>
      <p:font typeface="Roboto Slab Light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4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00125"/>
            <a:ext cx="9445523" cy="259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AI-Based Predictive Maintenance and Process Intelligence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258943"/>
            <a:ext cx="10164777" cy="399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sz="3999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Team 1</a:t>
            </a:r>
          </a:p>
          <a:p>
            <a:pPr algn="l">
              <a:lnSpc>
                <a:spcPts val="6383"/>
              </a:lnSpc>
            </a:pPr>
            <a:r>
              <a:rPr lang="en-US" sz="39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Presented by Aliya , Arya , Ankit , Akshata, Tanmayee , Prudhvi</a:t>
            </a:r>
          </a:p>
          <a:p>
            <a:pPr algn="l">
              <a:lnSpc>
                <a:spcPts val="6383"/>
              </a:lnSpc>
            </a:pPr>
          </a:p>
          <a:p>
            <a:pPr algn="l">
              <a:lnSpc>
                <a:spcPts val="638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022281"/>
            <a:ext cx="12667406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Infosys Internship 2026 (Milestone 1)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09650"/>
            <a:ext cx="4458148" cy="87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3"/>
              </a:lnSpc>
            </a:pPr>
            <a:r>
              <a:rPr lang="en-US" sz="565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Introduction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81314"/>
            <a:ext cx="12368474" cy="6876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7"/>
              </a:lnSpc>
            </a:pPr>
            <a:r>
              <a:rPr lang="en-US" sz="288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</a:t>
            </a:r>
          </a:p>
          <a:p>
            <a:pPr algn="l">
              <a:lnSpc>
                <a:spcPts val="4597"/>
              </a:lnSpc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Unexpected machine failures can cause:</a:t>
            </a:r>
          </a:p>
          <a:p>
            <a:pPr algn="l" marL="621963" indent="-310982" lvl="1">
              <a:lnSpc>
                <a:spcPts val="4597"/>
              </a:lnSpc>
              <a:buFont typeface="Arial"/>
              <a:buChar char="•"/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Production downtime</a:t>
            </a:r>
          </a:p>
          <a:p>
            <a:pPr algn="l" marL="621963" indent="-310982" lvl="1">
              <a:lnSpc>
                <a:spcPts val="4597"/>
              </a:lnSpc>
              <a:buFont typeface="Arial"/>
              <a:buChar char="•"/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High maintenance costs</a:t>
            </a:r>
          </a:p>
          <a:p>
            <a:pPr algn="l" marL="621963" indent="-310982" lvl="1">
              <a:lnSpc>
                <a:spcPts val="4597"/>
              </a:lnSpc>
              <a:buFont typeface="Arial"/>
              <a:buChar char="•"/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Lower productivity</a:t>
            </a:r>
          </a:p>
          <a:p>
            <a:pPr algn="l">
              <a:lnSpc>
                <a:spcPts val="4597"/>
              </a:lnSpc>
            </a:pPr>
            <a:r>
              <a:rPr lang="en-US" sz="288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Predictive Maintenance </a:t>
            </a:r>
          </a:p>
          <a:p>
            <a:pPr algn="l" marL="621963" indent="-310982" lvl="1">
              <a:lnSpc>
                <a:spcPts val="4597"/>
              </a:lnSpc>
              <a:buFont typeface="Arial"/>
              <a:buChar char="•"/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Predicts equipment failures using AI and sensor data.</a:t>
            </a:r>
          </a:p>
          <a:p>
            <a:pPr algn="l" marL="621963" indent="-310982" lvl="1">
              <a:lnSpc>
                <a:spcPts val="4597"/>
              </a:lnSpc>
              <a:buFont typeface="Arial"/>
              <a:buChar char="•"/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Enables proactive maintenance.</a:t>
            </a:r>
          </a:p>
          <a:p>
            <a:pPr algn="l">
              <a:lnSpc>
                <a:spcPts val="4597"/>
              </a:lnSpc>
            </a:pPr>
            <a:r>
              <a:rPr lang="en-US" sz="288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Process Intelligence </a:t>
            </a:r>
          </a:p>
          <a:p>
            <a:pPr algn="l" marL="621963" indent="-310982" lvl="1">
              <a:lnSpc>
                <a:spcPts val="4597"/>
              </a:lnSpc>
              <a:buFont typeface="Arial"/>
              <a:buChar char="•"/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Analyzes workflows and operational data.</a:t>
            </a:r>
          </a:p>
          <a:p>
            <a:pPr algn="l" marL="621963" indent="-310982" lvl="1">
              <a:lnSpc>
                <a:spcPts val="4597"/>
              </a:lnSpc>
              <a:buFont typeface="Arial"/>
              <a:buChar char="•"/>
            </a:pPr>
            <a:r>
              <a:rPr lang="en-US" sz="288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Identifies inefficiencies and improves processes.</a:t>
            </a:r>
          </a:p>
          <a:p>
            <a:pPr algn="l">
              <a:lnSpc>
                <a:spcPts val="459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09650"/>
            <a:ext cx="9445523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Project Objective &amp;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642167"/>
            <a:ext cx="9445523" cy="1737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Develop an AI-based system to predict machine failures and optimize industrial processes.</a:t>
            </a:r>
          </a:p>
          <a:p>
            <a:pPr algn="l">
              <a:lnSpc>
                <a:spcPts val="351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708708" y="3687611"/>
            <a:ext cx="4580934" cy="3448202"/>
            <a:chOff x="0" y="0"/>
            <a:chExt cx="6107913" cy="45976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7811" cy="4597527"/>
            </a:xfrm>
            <a:custGeom>
              <a:avLst/>
              <a:gdLst/>
              <a:ahLst/>
              <a:cxnLst/>
              <a:rect r="r" b="b" t="t" l="l"/>
              <a:pathLst>
                <a:path h="4597527" w="6107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169" y="0"/>
                  </a:lnTo>
                  <a:cubicBezTo>
                    <a:pt x="6082538" y="0"/>
                    <a:pt x="6107811" y="25400"/>
                    <a:pt x="6107811" y="56642"/>
                  </a:cubicBezTo>
                  <a:lnTo>
                    <a:pt x="6107811" y="4540885"/>
                  </a:lnTo>
                  <a:cubicBezTo>
                    <a:pt x="6107811" y="4572254"/>
                    <a:pt x="6082411" y="4597527"/>
                    <a:pt x="6051169" y="4597527"/>
                  </a:cubicBezTo>
                  <a:lnTo>
                    <a:pt x="56642" y="4597527"/>
                  </a:lnTo>
                  <a:cubicBezTo>
                    <a:pt x="25273" y="4597527"/>
                    <a:pt x="0" y="4572127"/>
                    <a:pt x="0" y="4540885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8708" y="3678086"/>
            <a:ext cx="401389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Primary Goals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29" y="4340074"/>
            <a:ext cx="4013892" cy="305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Predict failures early</a:t>
            </a:r>
          </a:p>
          <a:p>
            <a:pPr algn="l" marL="474979" indent="-23749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Reduce downtime</a:t>
            </a:r>
          </a:p>
          <a:p>
            <a:pPr algn="l" marL="474979" indent="-23749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Lower maintenance costs</a:t>
            </a:r>
          </a:p>
          <a:p>
            <a:pPr algn="l" marL="474979" indent="-23749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Improve equipment life</a:t>
            </a:r>
          </a:p>
          <a:p>
            <a:pPr algn="l" marL="474979" indent="-23749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Enable data-driven decisions</a:t>
            </a:r>
          </a:p>
          <a:p>
            <a:pPr algn="l">
              <a:lnSpc>
                <a:spcPts val="351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5715000" y="3687611"/>
            <a:ext cx="4581077" cy="3448202"/>
            <a:chOff x="0" y="0"/>
            <a:chExt cx="6108103" cy="45976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08065" cy="4597527"/>
            </a:xfrm>
            <a:custGeom>
              <a:avLst/>
              <a:gdLst/>
              <a:ahLst/>
              <a:cxnLst/>
              <a:rect r="r" b="b" t="t" l="l"/>
              <a:pathLst>
                <a:path h="4597527" w="6108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4540885"/>
                  </a:lnTo>
                  <a:cubicBezTo>
                    <a:pt x="6108065" y="4572254"/>
                    <a:pt x="6082665" y="4597527"/>
                    <a:pt x="6051423" y="4597527"/>
                  </a:cubicBezTo>
                  <a:lnTo>
                    <a:pt x="56642" y="4597527"/>
                  </a:lnTo>
                  <a:cubicBezTo>
                    <a:pt x="25273" y="4597527"/>
                    <a:pt x="0" y="4572127"/>
                    <a:pt x="0" y="4540885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5998516" y="3678086"/>
            <a:ext cx="4014045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High-level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8516" y="4360621"/>
            <a:ext cx="4014045" cy="217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Sensor Data → Data Processing → AI Model → Failure Prediction → Maintenance Insights</a:t>
            </a:r>
          </a:p>
          <a:p>
            <a:pPr algn="l">
              <a:lnSpc>
                <a:spcPts val="351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658432"/>
            <a:ext cx="5627692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Expected Impact</a:t>
            </a:r>
          </a:p>
          <a:p>
            <a:pPr algn="l" marL="453390" indent="-226695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Increased reliability</a:t>
            </a:r>
          </a:p>
          <a:p>
            <a:pPr algn="l" marL="453390" indent="-226695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Higher productivity</a:t>
            </a:r>
          </a:p>
          <a:p>
            <a:pPr algn="l" marL="453390" indent="-226695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Better operational efficiency</a:t>
            </a:r>
          </a:p>
          <a:p>
            <a:pPr algn="l">
              <a:lnSpc>
                <a:spcPts val="29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143000"/>
            <a:ext cx="9445523" cy="143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The AI4I 2020 Dataset — Industrial Foundation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909440"/>
            <a:ext cx="944552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    Synthetic but realistic dataset modelling milling-machine behaviour: ~10,000 records, 14 core features (temperatures, speed, torque, tool wear) and a binary Machine Failure target. Contains multiple labelled failure modes (TWF, HDF, PWF, OSF, RNF).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412134"/>
            <a:ext cx="4376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Key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052842"/>
            <a:ext cx="4376890" cy="275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Air &amp; process temperature (K)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Rotational speed (RPM)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Torque (Nm)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Tool wear (minutes)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Product ID, Type (categorical)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70406" y="5412134"/>
            <a:ext cx="4376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Target &amp; Labels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70406" y="6052842"/>
            <a:ext cx="4376890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Binary failure label (machine_failed) with additional failure-type annotations. Useful for classification and multi-task experiments (failure detection + failure-mode classification).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573559"/>
            <a:ext cx="9445523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Technical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13314" y="2717006"/>
            <a:ext cx="838244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Language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13314" y="3244301"/>
            <a:ext cx="83824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Python — ecosystem maturity and library support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432" y="5889637"/>
            <a:ext cx="838244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13314" y="4877991"/>
            <a:ext cx="83824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Pandas, NumPy — ingestion &amp; transformation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13314" y="5984377"/>
            <a:ext cx="838244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Viz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3314" y="6511681"/>
            <a:ext cx="83824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Matplotlib, Seaborn — exploration and reporting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3314" y="7618066"/>
            <a:ext cx="838244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Modeling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3314" y="8145361"/>
            <a:ext cx="838244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Scikit-learn, XGBoost, PyTorch/TensorFlow for deep models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818702"/>
            <a:ext cx="9445523" cy="6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Data Preprocessing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694107"/>
            <a:ext cx="10359923" cy="42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    Concise, repeatable pipeline to prepare sensor data for robust modelling.  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358628"/>
            <a:ext cx="487261" cy="304505"/>
            <a:chOff x="0" y="0"/>
            <a:chExt cx="649681" cy="406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9685" cy="406003"/>
            </a:xfrm>
            <a:custGeom>
              <a:avLst/>
              <a:gdLst/>
              <a:ahLst/>
              <a:cxnLst/>
              <a:rect r="r" b="b" t="t" l="l"/>
              <a:pathLst>
                <a:path h="406003" w="649685">
                  <a:moveTo>
                    <a:pt x="0" y="0"/>
                  </a:moveTo>
                  <a:lnTo>
                    <a:pt x="649685" y="0"/>
                  </a:lnTo>
                  <a:lnTo>
                    <a:pt x="649685" y="406003"/>
                  </a:lnTo>
                  <a:lnTo>
                    <a:pt x="0" y="4060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0" t="0" r="-3018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49681" cy="40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 Slab Light"/>
                  <a:ea typeface="Roboto Slab Light"/>
                  <a:cs typeface="Roboto Slab Light"/>
                  <a:sym typeface="Roboto Slab Light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2238" y="2744095"/>
            <a:ext cx="9445523" cy="28575"/>
            <a:chOff x="0" y="0"/>
            <a:chExt cx="12594031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99CE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2238" y="2922984"/>
            <a:ext cx="9445523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1. Ingest &amp; Clean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3362620"/>
            <a:ext cx="9445523" cy="42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Load CSV, check nulls, remove duplicates, validate ranges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4183561"/>
            <a:ext cx="487261" cy="304505"/>
            <a:chOff x="0" y="0"/>
            <a:chExt cx="649681" cy="4060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9685" cy="406003"/>
            </a:xfrm>
            <a:custGeom>
              <a:avLst/>
              <a:gdLst/>
              <a:ahLst/>
              <a:cxnLst/>
              <a:rect r="r" b="b" t="t" l="l"/>
              <a:pathLst>
                <a:path h="406003" w="649685">
                  <a:moveTo>
                    <a:pt x="0" y="0"/>
                  </a:moveTo>
                  <a:lnTo>
                    <a:pt x="649685" y="0"/>
                  </a:lnTo>
                  <a:lnTo>
                    <a:pt x="649685" y="406003"/>
                  </a:lnTo>
                  <a:lnTo>
                    <a:pt x="0" y="4060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0" t="0" r="-3018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49681" cy="40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 Slab Light"/>
                  <a:ea typeface="Roboto Slab Light"/>
                  <a:cs typeface="Roboto Slab Light"/>
                  <a:sym typeface="Roboto Slab Light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2238" y="4544768"/>
            <a:ext cx="9445523" cy="28575"/>
            <a:chOff x="0" y="0"/>
            <a:chExt cx="12594031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99CE8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2238" y="4747917"/>
            <a:ext cx="9445523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2. Encode &amp; Select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5187553"/>
            <a:ext cx="9445523" cy="42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One‑hot / label encode Product Type; drop UID/Product ID when appropriate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6008494"/>
            <a:ext cx="487261" cy="304505"/>
            <a:chOff x="0" y="0"/>
            <a:chExt cx="649681" cy="4060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685" cy="406003"/>
            </a:xfrm>
            <a:custGeom>
              <a:avLst/>
              <a:gdLst/>
              <a:ahLst/>
              <a:cxnLst/>
              <a:rect r="r" b="b" t="t" l="l"/>
              <a:pathLst>
                <a:path h="406003" w="649685">
                  <a:moveTo>
                    <a:pt x="0" y="0"/>
                  </a:moveTo>
                  <a:lnTo>
                    <a:pt x="649685" y="0"/>
                  </a:lnTo>
                  <a:lnTo>
                    <a:pt x="649685" y="406003"/>
                  </a:lnTo>
                  <a:lnTo>
                    <a:pt x="0" y="4060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0" t="0" r="-3018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49681" cy="40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 Slab Light"/>
                  <a:ea typeface="Roboto Slab Light"/>
                  <a:cs typeface="Roboto Slab Light"/>
                  <a:sym typeface="Roboto Slab Light"/>
                </a:rPr>
                <a:t>03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2238" y="6345288"/>
            <a:ext cx="9445523" cy="28575"/>
            <a:chOff x="0" y="0"/>
            <a:chExt cx="12594031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99CE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92238" y="6572850"/>
            <a:ext cx="9445523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3. Scale &amp; Balance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2238" y="7012486"/>
            <a:ext cx="9445523" cy="42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StandardScaler or MinMax; use SMOTE or class weights for imbalance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92238" y="7833417"/>
            <a:ext cx="487261" cy="304505"/>
            <a:chOff x="0" y="0"/>
            <a:chExt cx="649681" cy="4060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9685" cy="406003"/>
            </a:xfrm>
            <a:custGeom>
              <a:avLst/>
              <a:gdLst/>
              <a:ahLst/>
              <a:cxnLst/>
              <a:rect r="r" b="b" t="t" l="l"/>
              <a:pathLst>
                <a:path h="406003" w="649685">
                  <a:moveTo>
                    <a:pt x="0" y="0"/>
                  </a:moveTo>
                  <a:lnTo>
                    <a:pt x="649685" y="0"/>
                  </a:lnTo>
                  <a:lnTo>
                    <a:pt x="649685" y="406003"/>
                  </a:lnTo>
                  <a:lnTo>
                    <a:pt x="0" y="4060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0" t="0" r="-3018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49681" cy="406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6E5EF"/>
                  </a:solidFill>
                  <a:latin typeface="Roboto Slab Light"/>
                  <a:ea typeface="Roboto Slab Light"/>
                  <a:cs typeface="Roboto Slab Light"/>
                  <a:sym typeface="Roboto Slab Light"/>
                </a:rPr>
                <a:t>04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2238" y="8145961"/>
            <a:ext cx="9445523" cy="28575"/>
            <a:chOff x="0" y="0"/>
            <a:chExt cx="12594031" cy="38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94082" cy="38100"/>
            </a:xfrm>
            <a:custGeom>
              <a:avLst/>
              <a:gdLst/>
              <a:ahLst/>
              <a:cxnLst/>
              <a:rect r="r" b="b" t="t" l="l"/>
              <a:pathLst>
                <a:path h="38100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99CE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92238" y="8397773"/>
            <a:ext cx="9445523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4. Split &amp; Validate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2238" y="8837419"/>
            <a:ext cx="9445523" cy="42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Stratified train/test split (80/20), cross‑validation, and hold‑out for final evaluation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97648"/>
            <a:ext cx="16303523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ML Implementation — Part 1 (Models A, B, C)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892448"/>
            <a:ext cx="1143600" cy="1143600"/>
            <a:chOff x="0" y="0"/>
            <a:chExt cx="1524800" cy="15248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24762" cy="1524762"/>
            </a:xfrm>
            <a:custGeom>
              <a:avLst/>
              <a:gdLst/>
              <a:ahLst/>
              <a:cxnLst/>
              <a:rect r="r" b="b" t="t" l="l"/>
              <a:pathLst>
                <a:path h="1524762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90187" y="3882923"/>
            <a:ext cx="370031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Logistic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0187" y="4410227"/>
            <a:ext cx="3700310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Baseline classifier — interpretable, fast. Good for calibration and benchmarking; limited for nonlinear sensor interactions.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892448"/>
            <a:ext cx="1143600" cy="1143600"/>
            <a:chOff x="0" y="0"/>
            <a:chExt cx="1524800" cy="1524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24762" cy="1524762"/>
            </a:xfrm>
            <a:custGeom>
              <a:avLst/>
              <a:gdLst/>
              <a:ahLst/>
              <a:cxnLst/>
              <a:rect r="r" b="b" t="t" l="l"/>
              <a:pathLst>
                <a:path h="1524762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42824" y="3882923"/>
            <a:ext cx="370031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Decision Tree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2824" y="4410227"/>
            <a:ext cx="3700310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Interpretable splits, handles nonlinearity and categorical features; prune to avoid overfitting.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3" y="3892448"/>
            <a:ext cx="1143600" cy="1143600"/>
            <a:chOff x="0" y="0"/>
            <a:chExt cx="1524800" cy="15248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24762" cy="1524762"/>
            </a:xfrm>
            <a:custGeom>
              <a:avLst/>
              <a:gdLst/>
              <a:ahLst/>
              <a:cxnLst/>
              <a:rect r="r" b="b" t="t" l="l"/>
              <a:pathLst>
                <a:path h="1524762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595452" y="3882923"/>
            <a:ext cx="370031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Random Forest (Recommended)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95452" y="4853140"/>
            <a:ext cx="3700310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Ensemble approach: high accuracy, robust to noise, feature importance for explainability. Strong baseline for tabular sensor data.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97648"/>
            <a:ext cx="16303523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ML Implementation — Part 2 (Models D, E, F)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892448"/>
            <a:ext cx="1143600" cy="1143600"/>
            <a:chOff x="0" y="0"/>
            <a:chExt cx="1524800" cy="15248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24762" cy="1524762"/>
            </a:xfrm>
            <a:custGeom>
              <a:avLst/>
              <a:gdLst/>
              <a:ahLst/>
              <a:cxnLst/>
              <a:rect r="r" b="b" t="t" l="l"/>
              <a:pathLst>
                <a:path h="1524762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90187" y="3882923"/>
            <a:ext cx="370031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Support Vector Machine (SVM)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0187" y="4853140"/>
            <a:ext cx="3700310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Effective in high-dimensional spaces; kernelised SVMs capture complex boundaries but scale poorly to large datasets.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892448"/>
            <a:ext cx="1143600" cy="1143600"/>
            <a:chOff x="0" y="0"/>
            <a:chExt cx="1524800" cy="15248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524762" cy="1524762"/>
            </a:xfrm>
            <a:custGeom>
              <a:avLst/>
              <a:gdLst/>
              <a:ahLst/>
              <a:cxnLst/>
              <a:rect r="r" b="b" t="t" l="l"/>
              <a:pathLst>
                <a:path h="1524762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42824" y="3882923"/>
            <a:ext cx="370031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XGBoost (Recommended)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2824" y="4853140"/>
            <a:ext cx="3700310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State-of-the-art on structured data: gradient boosting, regularisation, built-in handling of missing values, strong predictive power.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3" y="3892448"/>
            <a:ext cx="1143600" cy="1143600"/>
            <a:chOff x="0" y="0"/>
            <a:chExt cx="1524800" cy="15248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24762" cy="1524762"/>
            </a:xfrm>
            <a:custGeom>
              <a:avLst/>
              <a:gdLst/>
              <a:ahLst/>
              <a:cxnLst/>
              <a:rect r="r" b="b" t="t" l="l"/>
              <a:pathLst>
                <a:path h="1524762" w="1524762">
                  <a:moveTo>
                    <a:pt x="0" y="0"/>
                  </a:moveTo>
                  <a:lnTo>
                    <a:pt x="1524762" y="0"/>
                  </a:lnTo>
                  <a:lnTo>
                    <a:pt x="1524762" y="1524762"/>
                  </a:lnTo>
                  <a:lnTo>
                    <a:pt x="0" y="15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595452" y="3882923"/>
            <a:ext cx="370031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Artificial Neural Network (ANN)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95452" y="4853140"/>
            <a:ext cx="3700310" cy="281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Captures complex nonlinearities; use MLP for tabular data or combine with feature embeddings. Requires careful tuning and more compute.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089252"/>
            <a:ext cx="9445523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Expected Outcomes &amp; Applications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516211"/>
            <a:ext cx="336306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Outcomes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4156920"/>
            <a:ext cx="3363068" cy="392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Early failure detection → fewer unplanned stops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Reduced spare-part inventory via targeted scheduling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Improved OEE and cost savings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14584" y="3516211"/>
            <a:ext cx="539055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Industrial Applications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14584" y="4156920"/>
            <a:ext cx="5390550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Manufacturing lines, CNC/milling tool monitoring, rotating equipment, and multi-site fleet maintenance. Business impact: predictable uptime, safety improvements, and data-driven decision making.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935509"/>
            <a:ext cx="9445523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Conclusion &amp; Future Scope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70513" y="3301155"/>
            <a:ext cx="340223" cy="425206"/>
            <a:chOff x="0" y="0"/>
            <a:chExt cx="453631" cy="5669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3629" cy="566936"/>
            </a:xfrm>
            <a:custGeom>
              <a:avLst/>
              <a:gdLst/>
              <a:ahLst/>
              <a:cxnLst/>
              <a:rect r="r" b="b" t="t" l="l"/>
              <a:pathLst>
                <a:path h="566936" w="453629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2" t="0" r="-11035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53631" cy="56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171850" y="4212879"/>
            <a:ext cx="393769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1850" y="4740173"/>
            <a:ext cx="3937692" cy="327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Predictive maintenance converts reactive costs into strategic operational advantage. Balance metrics (precision vs recall) to align with maintenance cost and risk tolerance.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834968" y="3301155"/>
            <a:ext cx="340223" cy="425206"/>
            <a:chOff x="0" y="0"/>
            <a:chExt cx="453631" cy="566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3629" cy="566936"/>
            </a:xfrm>
            <a:custGeom>
              <a:avLst/>
              <a:gdLst/>
              <a:ahLst/>
              <a:cxnLst/>
              <a:rect r="r" b="b" t="t" l="l"/>
              <a:pathLst>
                <a:path h="566936" w="453629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2" t="0" r="-11035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53631" cy="5669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036306" y="4212879"/>
            <a:ext cx="3937845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Future Enhancements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6306" y="4740173"/>
            <a:ext cx="3937845" cy="327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RUL estimation (regression), time-series models (LSTM/CNN), real‑time IoT streaming, cloud monitoring, and Explainable AI (SHAP/LIME) for operator trust.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68879" y="4473921"/>
            <a:ext cx="9445523" cy="74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0"/>
              </a:lnSpc>
            </a:pPr>
            <a:r>
              <a:rPr lang="en-US" sz="96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33262" y="5980957"/>
            <a:ext cx="9988351" cy="33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66A8EE"/>
                </a:solidFill>
                <a:latin typeface="Roboto"/>
                <a:ea typeface="Roboto"/>
                <a:cs typeface="Roboto"/>
                <a:sym typeface="Roboto"/>
              </a:rPr>
              <a:t>https://github.com/gprudhvi2005/A</a:t>
            </a:r>
            <a:r>
              <a:rPr lang="en-US" sz="1700">
                <a:solidFill>
                  <a:srgbClr val="66A8EE"/>
                </a:solidFill>
                <a:latin typeface="Roboto"/>
                <a:ea typeface="Roboto"/>
                <a:cs typeface="Roboto"/>
                <a:sym typeface="Roboto"/>
              </a:rPr>
              <a:t>I-Based-Predictive-Maintenance-and-Process-Intelligence-System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DAHOsUjKfsI</dc:identifier>
  <dcterms:modified xsi:type="dcterms:W3CDTF">2011-08-01T06:04:30Z</dcterms:modified>
  <cp:revision>1</cp:revision>
  <dc:title>AI-Based-Predictive-Maintenance-and-Process-Intelligence-System.pptx</dc:title>
</cp:coreProperties>
</file>