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24028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682241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dirty="0">
                <a:solidFill>
                  <a:srgbClr val="FFFFFF"/>
                </a:solidFill>
                <a:latin typeface="Calibri"/>
              </a:rPr>
              <a:t>AI-Based Predictive Maintenance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94094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dirty="0">
                <a:solidFill>
                  <a:srgbClr val="00B4D8"/>
                </a:solidFill>
                <a:latin typeface="Calibri"/>
              </a:rPr>
              <a:t>&amp; Process Intelligence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B0C4DE"/>
                </a:solidFill>
                <a:latin typeface="Calibri"/>
              </a:rPr>
              <a:t>Infosys </a:t>
            </a:r>
            <a:r>
              <a:rPr lang="en-IN" sz="1600" b="0" dirty="0">
                <a:solidFill>
                  <a:srgbClr val="B0C4DE"/>
                </a:solidFill>
                <a:latin typeface="Calibri"/>
              </a:rPr>
              <a:t>Springboard </a:t>
            </a:r>
            <a:r>
              <a:rPr sz="1600" b="0" dirty="0">
                <a:solidFill>
                  <a:srgbClr val="B0C4DE"/>
                </a:solidFill>
                <a:latin typeface="Calibri"/>
              </a:rPr>
              <a:t>Internship   |  AI4I 2020 Dataset  |  Multi-Model ML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dirty="0">
                <a:solidFill>
                  <a:srgbClr val="FFD600"/>
                </a:solidFill>
                <a:latin typeface="Calibri"/>
              </a:rPr>
              <a:t>Presented by </a:t>
            </a:r>
          </a:p>
          <a:p>
            <a:pPr algn="ctr"/>
            <a:r>
              <a:rPr lang="en-IN" sz="1800" b="1" dirty="0">
                <a:solidFill>
                  <a:srgbClr val="FFD600"/>
                </a:solidFill>
                <a:latin typeface="Calibri"/>
              </a:rPr>
              <a:t>Aliya </a:t>
            </a:r>
            <a:r>
              <a:rPr lang="en-IN" b="1" dirty="0">
                <a:solidFill>
                  <a:srgbClr val="FFD600"/>
                </a:solidFill>
                <a:latin typeface="Calibri"/>
              </a:rPr>
              <a:t> </a:t>
            </a:r>
            <a:r>
              <a:rPr lang="en-IN" sz="1800" b="1" dirty="0">
                <a:solidFill>
                  <a:srgbClr val="FFD600"/>
                </a:solidFill>
                <a:latin typeface="Calibri"/>
              </a:rPr>
              <a:t> Arya  Ankit </a:t>
            </a:r>
            <a:r>
              <a:rPr lang="en-IN" b="1" dirty="0">
                <a:solidFill>
                  <a:srgbClr val="FFD600"/>
                </a:solidFill>
                <a:latin typeface="Calibri"/>
              </a:rPr>
              <a:t> </a:t>
            </a:r>
            <a:r>
              <a:rPr lang="en-IN" sz="1800" b="1" dirty="0">
                <a:solidFill>
                  <a:srgbClr val="FFD600"/>
                </a:solidFill>
                <a:latin typeface="Calibri"/>
              </a:rPr>
              <a:t> </a:t>
            </a:r>
            <a:r>
              <a:rPr lang="en-IN" b="1" dirty="0">
                <a:solidFill>
                  <a:srgbClr val="FFD600"/>
                </a:solidFill>
              </a:rPr>
              <a:t>Akshata Prudhvi Tanmayee</a:t>
            </a:r>
            <a:endParaRPr sz="1800" b="1" dirty="0">
              <a:solidFill>
                <a:srgbClr val="FFD600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744645-41F8-D549-2DCD-6D9049509DA0}"/>
              </a:ext>
            </a:extLst>
          </p:cNvPr>
          <p:cNvSpPr txBox="1"/>
          <p:nvPr/>
        </p:nvSpPr>
        <p:spPr>
          <a:xfrm>
            <a:off x="1716172" y="4184380"/>
            <a:ext cx="97384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i="1" u="sng" dirty="0">
                <a:solidFill>
                  <a:schemeClr val="tx2"/>
                </a:solidFill>
                <a:latin typeface="Aptos Narrow" panose="020B0004020202020204" pitchFamily="34" charset="0"/>
              </a:rPr>
              <a:t>https://github.com/gprudhvi2005/AI-Based-Predictive-Maintenance-and-Process-Intelligence-System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1430000" cy="68580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D600"/>
                </a:solidFill>
                <a:latin typeface="Calibri"/>
              </a:rPr>
              <a:t>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Unplanned machine failures cost manufacturers billions annually in downtime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11430000" cy="68580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D600"/>
                </a:solidFill>
                <a:latin typeface="Calibri"/>
              </a:rP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Traditional maintenance is either reactive (post-failure) or time-based (wasteful)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11430000" cy="68580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D600"/>
                </a:solidFill>
                <a:latin typeface="Calibri"/>
              </a:rPr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46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Industrial sensors generate massive real-time data that is largely underutilised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14800"/>
            <a:ext cx="11430000" cy="68580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D600"/>
                </a:solidFill>
                <a:latin typeface="Calibri"/>
              </a:rPr>
              <a:t>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Early failure signals are buried in high-dimensional, class-imbalanced sensor streams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29200"/>
            <a:ext cx="11430000" cy="68580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D600"/>
                </a:solidFill>
                <a:latin typeface="Calibri"/>
              </a:rPr>
              <a:t>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74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Calibri"/>
              </a:rPr>
              <a:t>No intelligent system to proactively predict failures before they occur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  <a:latin typeface="Calibri"/>
              </a:rPr>
              <a:t>Our Objective &amp; Solution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486400" cy="5212080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✔  Build an end-to-end ML pipeline for predictive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✔  Leverage AI4I 2020 synthetic industrial dataset (10K rows)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✔  Handle severe class imbalance (~3.4 % failure rate)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605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✔  Compare classical &amp; advanced ML/DL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✔  Provide SHAP-based model explainability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5760720" cy="5212080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SOLUTION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288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①  Data Preprocessing &amp; EDA (Milestone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0604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②  Feature Engineering &amp;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38328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③  Classical ML Models (Milestone 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416052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④  Ensemble + ANN Models (Milestone 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93776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⑤  SHAP Explainability &amp; Model Export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  <a:latin typeface="Calibri"/>
              </a:rPr>
              <a:t>Dataset Overview — AI4I 2020 Predictive Maintenance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92608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</a:rPr>
              <a:t>Property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371600"/>
            <a:ext cx="804672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0" y="14630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</a:rPr>
              <a:t>Detail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29260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CAE4"/>
                </a:solidFill>
                <a:latin typeface="Calibri"/>
              </a:rPr>
              <a:t>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920240"/>
            <a:ext cx="804672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201168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UCI Machine Learning Repository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2926080" cy="54864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CAE4"/>
                </a:solidFill>
                <a:latin typeface="Calibri"/>
              </a:rPr>
              <a:t>Rows × Columns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468880"/>
            <a:ext cx="8046720" cy="54864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25603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10,000 × 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17520"/>
            <a:ext cx="29260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CAE4"/>
                </a:solidFill>
                <a:latin typeface="Calibri"/>
              </a:rPr>
              <a:t>Target Variable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017520"/>
            <a:ext cx="804672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31089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Machine failure  (Binary: 0=Healthy, 1=Failed)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2926080" cy="54864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CAE4"/>
                </a:solidFill>
                <a:latin typeface="Calibri"/>
              </a:rPr>
              <a:t>Class Balance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3566160"/>
            <a:ext cx="8046720" cy="54864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74720" y="36576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~96.6% Healthy  /  ~3.4% Failure  (Highly Imbalanced)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14800"/>
            <a:ext cx="29260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CAE4"/>
                </a:solidFill>
                <a:latin typeface="Calibri"/>
              </a:rPr>
              <a:t>Machine Types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4114800"/>
            <a:ext cx="804672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0" y="4206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 (Low), M (Medium), H (High)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63440"/>
            <a:ext cx="2926080" cy="54864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7548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CAE4"/>
                </a:solidFill>
                <a:latin typeface="Calibri"/>
              </a:rPr>
              <a:t>Key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4663440"/>
            <a:ext cx="8046720" cy="54864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0" y="475487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Air Temp, Process Temp, Rotational Speed, Torque, Tool Wear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12080"/>
            <a:ext cx="292608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8CAE4"/>
                </a:solidFill>
                <a:latin typeface="Calibri"/>
              </a:rPr>
              <a:t>Failure Subtypes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83280" y="5212080"/>
            <a:ext cx="8046720" cy="548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74720" y="53035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TWF, HDF, PWF, OSF, RNF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  <a:latin typeface="Calibri"/>
              </a:rPr>
              <a:t>Milestone 1 — Data Preprocessing &amp; EDA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834640" cy="512064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8346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</a:rPr>
              <a:t>Data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0574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›  Removed UDI &amp; Product ID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88036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›  Label-encoded Type column (L→0,M→1,H→2)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70332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›  Verified zero missing values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1371600"/>
            <a:ext cx="2834640" cy="512064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39" y="1371600"/>
            <a:ext cx="283464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79" y="14447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</a:rPr>
              <a:t>Feature Eng.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20574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›  Created Temp Difference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88036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›  One-hot encoded machine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370332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›  StandardScaler normalisation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371600"/>
            <a:ext cx="2834640" cy="512064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59" y="1371600"/>
            <a:ext cx="2834640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799" y="14447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</a:rPr>
              <a:t>EDA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20574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›  Strong correlation: Torque × Speed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288036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›  Tool wear increases failure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70332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›  Class imbalance: 28.5 : 1 ratio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1371600"/>
            <a:ext cx="2834640" cy="512064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326880" y="1371600"/>
            <a:ext cx="2834640" cy="50292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18319" y="14447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</a:rPr>
              <a:t>Train/Test Split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6607" y="205740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›  80/20 stratified split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7" y="288036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›  8,000 train / 2,000 test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7" y="3703320"/>
            <a:ext cx="2606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›  Exports 4 CSVs for all milestones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  <a:latin typeface="Calibri"/>
              </a:rPr>
              <a:t>Milestone 2 — Classical ML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749039" cy="512064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749039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Calibri"/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How: Linear decision boundary on scaled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Why: Fast baseline; class_weight='balanced' for imbalance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26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Threshold tuned to 0.30 for higher recall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661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Acc: 83.0%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519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ROC-AUC: 0.9069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377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PR-AUC: 0.3814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6235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F1: 0.24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371600"/>
            <a:ext cx="3749039" cy="512064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51959" y="1371600"/>
            <a:ext cx="3749039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399" y="14447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Calibri"/>
              </a:rPr>
              <a:t>Support Vector Machine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399" y="20116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How: RBF kernel SVM on scaled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399" y="2468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Why: Effective in high-dim spaces; probability=True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399" y="2926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C=1.0, gamma='scale', class_weight='balanced'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399" y="35661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3657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Acc: 91.3%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399" y="42519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4343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ROC-AUC: 0.9685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399" y="49377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4840" y="5029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PR-AUC: 0.6611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399" y="56235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34840" y="5715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F1: 0.42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1371600"/>
            <a:ext cx="3749039" cy="512064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600" y="1371600"/>
            <a:ext cx="3749039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14447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Calibri"/>
              </a:rPr>
              <a:t>Decision Tree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0116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How: Gini-based tree, max_depth=6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468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Why: Interpretable splits on sensor thresholds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926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class_weight='balanced' to handle imbalance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35661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0" y="3657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0"/>
                </a:solidFill>
                <a:latin typeface="Calibri"/>
              </a:rPr>
              <a:t>Acc: 94.8%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42519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4343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0"/>
                </a:solidFill>
                <a:latin typeface="Calibri"/>
              </a:rPr>
              <a:t>ROC-AUC: 0.8432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49377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0" y="5029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0"/>
                </a:solidFill>
                <a:latin typeface="Calibri"/>
              </a:rPr>
              <a:t>PR-AUC: 0.7151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56235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12480" y="5715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0"/>
                </a:solidFill>
                <a:latin typeface="Calibri"/>
              </a:rPr>
              <a:t>F1: 0.51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  <a:latin typeface="Calibri"/>
              </a:rPr>
              <a:t>Milestone 3 — Advanced Ensemble &amp; Deep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749039" cy="512064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749039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Calibri"/>
              </a:rPr>
              <a:t>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How: 200 trees, SMOTE resampled, GridSearchCV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Why: Ensemble reduces variance; balanced weights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26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Best params: max_depth=None, n_estimators=200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661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Acc: 97.2%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519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ROC-AUC: 0.9763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9377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PR-AUC: 0.7988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6235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5715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  <a:latin typeface="Calibri"/>
              </a:rPr>
              <a:t>F1: 0.6543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371600"/>
            <a:ext cx="3749039" cy="512064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51959" y="1371600"/>
            <a:ext cx="3749039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399" y="14447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Calibri"/>
              </a:rPr>
              <a:t>Gradient Boosting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399" y="20116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How: Sequential trees, lr=0.1, max_depth=5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399" y="2468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Why: Handles imbalance well with SMOTE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399" y="2926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Subsample=0.8 prevents overfitting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399" y="35661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3657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Acc: 97.6%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399" y="42519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4343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ROC-AUC: 0.9661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399" y="49377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4840" y="5029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PR-AUC: 0.8158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399" y="56235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34840" y="5715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  <a:latin typeface="Calibri"/>
              </a:rPr>
              <a:t>F1: 0.7000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1371600"/>
            <a:ext cx="3749039" cy="512064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600" y="1371600"/>
            <a:ext cx="3749039" cy="502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14447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Calibri"/>
              </a:rPr>
              <a:t>ANN (MLP)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0116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How: 128→64→32 ReLU layers, Adam, early_stop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4688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Why: Captures non-linear feature interactions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92608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Best threshold: 0.55 (optimised by F1)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35661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0" y="3657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0"/>
                </a:solidFill>
                <a:latin typeface="Calibri"/>
              </a:rPr>
              <a:t>Acc: 98.6%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40" y="42519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0" y="4343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0"/>
                </a:solidFill>
                <a:latin typeface="Calibri"/>
              </a:rPr>
              <a:t>ROC-AUC: 0.9810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40" y="49377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0" y="5029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0"/>
                </a:solidFill>
                <a:latin typeface="Calibri"/>
              </a:rPr>
              <a:t>PR-AUC: 0.8205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21040" y="5623560"/>
            <a:ext cx="3474720" cy="566928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12480" y="5715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D600"/>
                </a:solidFill>
                <a:latin typeface="Calibri"/>
              </a:rPr>
              <a:t>F1: 0.7680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  <a:latin typeface="Calibri"/>
              </a:rPr>
              <a:t>Model Performance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417320"/>
            <a:ext cx="29260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  <a:latin typeface="Calibri"/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417320"/>
            <a:ext cx="15544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150876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  <a:latin typeface="Calibri"/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417320"/>
            <a:ext cx="15544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50876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  <a:latin typeface="Calibri"/>
              </a:rPr>
              <a:t>F1-Score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15544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50876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  <a:latin typeface="Calibri"/>
              </a:rPr>
              <a:t>ROC-AUC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18120" y="1417320"/>
            <a:ext cx="155448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150876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  <a:latin typeface="Calibri"/>
              </a:rPr>
              <a:t>PR-AUC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1417320"/>
            <a:ext cx="173736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18320" y="1508760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D1B2A"/>
                </a:solidFill>
                <a:latin typeface="Calibri"/>
              </a:rPr>
              <a:t>Milestone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011680"/>
            <a:ext cx="292608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21031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CAE4"/>
                </a:solidFill>
                <a:latin typeface="Calibri"/>
              </a:rPr>
              <a:t>Logistic Regression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2011680"/>
            <a:ext cx="155448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0" y="210312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83.0%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2011680"/>
            <a:ext cx="155448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210312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0.2400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011680"/>
            <a:ext cx="155448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9360" y="210312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0.9069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2011680"/>
            <a:ext cx="155448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0" y="210312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0.3814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72600" y="2011680"/>
            <a:ext cx="173736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20" y="2103120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606040"/>
            <a:ext cx="2926080" cy="594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26974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CAE4"/>
                </a:solidFill>
                <a:latin typeface="Calibri"/>
              </a:rPr>
              <a:t>SVM (RBF)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2606040"/>
            <a:ext cx="1554480" cy="594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0" y="269748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91.3%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09160" y="2606040"/>
            <a:ext cx="1554480" cy="594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54880" y="269748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0.4200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2606040"/>
            <a:ext cx="1554480" cy="594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269748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0.9685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2606040"/>
            <a:ext cx="1554480" cy="594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63840" y="269748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0.6611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72600" y="2606040"/>
            <a:ext cx="1737360" cy="594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418320" y="2697480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3200400"/>
            <a:ext cx="292608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329184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CAE4"/>
                </a:solidFill>
                <a:latin typeface="Calibri"/>
              </a:rPr>
              <a:t>Decision Tree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54680" y="3200400"/>
            <a:ext cx="155448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0" y="329184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94.8%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09160" y="3200400"/>
            <a:ext cx="155448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54880" y="329184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0.5100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3200400"/>
            <a:ext cx="155448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09360" y="329184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0.8432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20" y="3200400"/>
            <a:ext cx="155448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63840" y="329184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0.7151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72600" y="3200400"/>
            <a:ext cx="173736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418320" y="3291840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" y="3794760"/>
            <a:ext cx="2926080" cy="594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74320" y="38862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CAE4"/>
                </a:solidFill>
                <a:latin typeface="Calibri"/>
              </a:rPr>
              <a:t>Random Forest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54680" y="3794760"/>
            <a:ext cx="1554480" cy="594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00400" y="388620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97.2%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09160" y="3794760"/>
            <a:ext cx="1554480" cy="594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754880" y="388620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0.6543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63640" y="3794760"/>
            <a:ext cx="1554480" cy="594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309360" y="388620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0.9763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18120" y="3794760"/>
            <a:ext cx="1554480" cy="594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863840" y="388620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0.7988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72600" y="3794760"/>
            <a:ext cx="1737360" cy="5943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418320" y="3886200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4389120"/>
            <a:ext cx="292608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74320" y="4480559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48CAE4"/>
                </a:solidFill>
                <a:latin typeface="Calibri"/>
              </a:rPr>
              <a:t>Gradient Boosting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54680" y="4389120"/>
            <a:ext cx="155448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200400" y="4480559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97.6%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709160" y="4389120"/>
            <a:ext cx="155448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754880" y="4480559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0.7000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63640" y="4389120"/>
            <a:ext cx="155448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309360" y="4480559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0.9661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18120" y="4389120"/>
            <a:ext cx="155448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863840" y="4480559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0.8158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72600" y="4389120"/>
            <a:ext cx="1737360" cy="594360"/>
          </a:xfrm>
          <a:prstGeom prst="rect">
            <a:avLst/>
          </a:prstGeom>
          <a:solidFill>
            <a:srgbClr val="0F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418320" y="4480559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4983480"/>
            <a:ext cx="2926080" cy="594360"/>
          </a:xfrm>
          <a:prstGeom prst="rect">
            <a:avLst/>
          </a:prstGeom>
          <a:solidFill>
            <a:srgbClr val="05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74320" y="50749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600"/>
                </a:solidFill>
                <a:latin typeface="Calibri"/>
              </a:rPr>
              <a:t>ANN (MLP) ★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54680" y="4983480"/>
            <a:ext cx="1554480" cy="594360"/>
          </a:xfrm>
          <a:prstGeom prst="rect">
            <a:avLst/>
          </a:prstGeom>
          <a:solidFill>
            <a:srgbClr val="05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200400" y="507492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600"/>
                </a:solidFill>
                <a:latin typeface="Calibri"/>
              </a:rPr>
              <a:t>98.6%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09160" y="4983480"/>
            <a:ext cx="1554480" cy="594360"/>
          </a:xfrm>
          <a:prstGeom prst="rect">
            <a:avLst/>
          </a:prstGeom>
          <a:solidFill>
            <a:srgbClr val="05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754880" y="507492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600"/>
                </a:solidFill>
                <a:latin typeface="Calibri"/>
              </a:rPr>
              <a:t>0.7680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63640" y="4983480"/>
            <a:ext cx="1554480" cy="594360"/>
          </a:xfrm>
          <a:prstGeom prst="rect">
            <a:avLst/>
          </a:prstGeom>
          <a:solidFill>
            <a:srgbClr val="05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309360" y="507492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600"/>
                </a:solidFill>
                <a:latin typeface="Calibri"/>
              </a:rPr>
              <a:t>0.9810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818120" y="4983480"/>
            <a:ext cx="1554480" cy="594360"/>
          </a:xfrm>
          <a:prstGeom prst="rect">
            <a:avLst/>
          </a:prstGeom>
          <a:solidFill>
            <a:srgbClr val="05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863840" y="5074920"/>
            <a:ext cx="1463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600"/>
                </a:solidFill>
                <a:latin typeface="Calibri"/>
              </a:rPr>
              <a:t>0.8205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372600" y="4983480"/>
            <a:ext cx="1737360" cy="594360"/>
          </a:xfrm>
          <a:prstGeom prst="rect">
            <a:avLst/>
          </a:prstGeom>
          <a:solidFill>
            <a:srgbClr val="053D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418320" y="5074920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D600"/>
                </a:solidFill>
                <a:latin typeface="Calibri"/>
              </a:rP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600" y="6126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  <a:latin typeface="Calibri"/>
              </a:rPr>
              <a:t>★ Best Model — ANN achieves highest accuracy, F1, ROC-AUC and PR-AUC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  <a:latin typeface="Calibri"/>
              </a:rPr>
              <a:t>Key Insights &amp; Why Each Model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852160" cy="155448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09728" cy="1554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Logistic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Establishes baseline. ROC-AUC 0.91 is good but low PR-AUC (0.38) exposes weakness on minority class. Best for speed.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371600"/>
            <a:ext cx="5852160" cy="155448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59" y="1371600"/>
            <a:ext cx="109728" cy="1554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148132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CC71"/>
                </a:solidFill>
                <a:latin typeface="Calibri"/>
              </a:rPr>
              <a:t>SVM (RBF)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1901952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Non-linear boundary improves F1 to 0.42. PR-AUC jumps to 0.66 — better at finding actual failures. Moderate training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852160" cy="155448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063240"/>
            <a:ext cx="109728" cy="15544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1729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600"/>
                </a:solidFill>
                <a:latin typeface="Calibri"/>
              </a:rPr>
              <a:t>Decision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93592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Highest PR-AUC (0.72) among classical models. Gini splits naturally identify sensor threshold patterns. Fully interpretable.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063240"/>
            <a:ext cx="5852160" cy="155448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59" y="3063240"/>
            <a:ext cx="109728" cy="155448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59" y="31729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8CAE4"/>
                </a:solidFill>
                <a:latin typeface="Calibri"/>
              </a:rPr>
              <a:t>Random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3593592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Ensemble of 200 trees + SMOTE + GridSearch. Robust &amp; stable. PR-AUC 0.80 with very high accuracy (97.2%).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5852160" cy="155448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4754880"/>
            <a:ext cx="109728" cy="1554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8646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6B"/>
                </a:solidFill>
                <a:latin typeface="Calibri"/>
              </a:rPr>
              <a:t>Gradient Boosting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85232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Sequential learning boosts weak learners. F1 0.70 — best among non-ANN. PR-AUC 0.82. Excellent for production.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4754880"/>
            <a:ext cx="5852160" cy="155448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59" y="4754880"/>
            <a:ext cx="109728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59" y="48646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ANN (MLP 128→64→32)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5285232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Deep feature interactions captured via ReLU layers. Best across all metrics. Early stopping prevents overfit. Threshold tuned to 0.55.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  <a:latin typeface="Calibri"/>
              </a:rPr>
              <a:t>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852160" cy="155448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813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Real-Time 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Integrate with Apache Kafka or MQTT to process live sensor data and trigger alerts in real-time.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371600"/>
            <a:ext cx="5852160" cy="155448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599" y="148132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Deep Learning Upgrade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599" y="1874519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Replace MLP with LSTM/Transformer to model temporal sensor sequences for time-series failure prediction.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852160" cy="155448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3246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☁️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1729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Cloud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5661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Deploy REST API (FastAPI/Flask) on AWS/Azure with a dashboard for plant operators to monitor predictions.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063240"/>
            <a:ext cx="5852160" cy="155448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3246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599" y="31729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Failure Type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356616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Extend from binary failure detection to multi-class: predict specific failure types (TWF, HDF, PWF, OSF).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5852160" cy="155448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79" y="4937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864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Federated Learning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2578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Train models across multiple plant locations without sharing raw sensor data — privacy-preserving ML.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59" y="4754880"/>
            <a:ext cx="5852160" cy="155448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4937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599" y="4864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  <a:latin typeface="Calibri"/>
              </a:rPr>
              <a:t>Digital Twin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599" y="52578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  <a:latin typeface="Calibri"/>
              </a:rPr>
              <a:t>Link the ML model with a digital twin simulation to validate predictions against virtual machine replicas.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B4D8"/>
                </a:solidFill>
                <a:latin typeface="Calibri"/>
              </a:rPr>
              <a:t>Team Contributions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5852160" cy="164592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91440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1371600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dirty="0">
                <a:solidFill>
                  <a:srgbClr val="00B4D8"/>
                </a:solidFill>
                <a:latin typeface="Calibri"/>
              </a:rPr>
              <a:t>Gopisetti Prudhvi</a:t>
            </a:r>
            <a:endParaRPr sz="1600" b="1" dirty="0">
              <a:solidFill>
                <a:srgbClr val="00B4D8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94460" y="1624280"/>
            <a:ext cx="46634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0" dirty="0">
                <a:solidFill>
                  <a:srgbClr val="B0C4DE"/>
                </a:solidFill>
                <a:latin typeface="Calibri"/>
              </a:rPr>
              <a:t>Milestone 1 ppt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B0C4DE"/>
                </a:solidFill>
                <a:latin typeface="Calibri"/>
              </a:rPr>
              <a:t>Data Preprocessing and EDA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B0C4DE"/>
                </a:solidFill>
                <a:latin typeface="Calibri"/>
              </a:rPr>
              <a:t>Decision Tree and ANN Code</a:t>
            </a:r>
            <a:endParaRPr lang="en-IN" sz="1600" b="0" dirty="0">
              <a:solidFill>
                <a:srgbClr val="B0C4DE"/>
              </a:solidFill>
              <a:latin typeface="Calibr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B0C4DE"/>
                </a:solidFill>
                <a:latin typeface="Calibri"/>
              </a:rPr>
              <a:t>Comparison Models ppt(milestone 3)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0" dirty="0">
                <a:solidFill>
                  <a:srgbClr val="B0C4DE"/>
                </a:solidFill>
                <a:latin typeface="Calibri"/>
              </a:rPr>
              <a:t>Milestone 4 </a:t>
            </a:r>
            <a:r>
              <a:rPr lang="en-IN" sz="1600" dirty="0">
                <a:solidFill>
                  <a:srgbClr val="B0C4DE"/>
                </a:solidFill>
                <a:latin typeface="Calibri"/>
              </a:rPr>
              <a:t>ppt</a:t>
            </a:r>
            <a:endParaRPr sz="1600" b="0" dirty="0">
              <a:solidFill>
                <a:srgbClr val="B0C4DE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09359" y="1280160"/>
            <a:ext cx="5852160" cy="164592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280160"/>
            <a:ext cx="914400" cy="1645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60919" y="1371600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2ECC71"/>
                </a:solidFill>
              </a:rPr>
              <a:t>Akshata Dhanapal</a:t>
            </a:r>
            <a:endParaRPr sz="1600" b="1" dirty="0">
              <a:solidFill>
                <a:srgbClr val="2ECC71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74320" y="3108960"/>
            <a:ext cx="5852160" cy="164592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274320" y="3108960"/>
            <a:ext cx="914400" cy="16459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25880" y="3200400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dirty="0">
                <a:solidFill>
                  <a:srgbClr val="FFD600"/>
                </a:solidFill>
                <a:latin typeface="Calibri"/>
              </a:rPr>
              <a:t>Ankit Shaw</a:t>
            </a:r>
            <a:endParaRPr sz="1600" b="1" dirty="0">
              <a:solidFill>
                <a:srgbClr val="FFD600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309359" y="3108960"/>
            <a:ext cx="5852160" cy="164592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6309359" y="3108960"/>
            <a:ext cx="914400" cy="1645920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60919" y="3200400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dirty="0" err="1">
                <a:solidFill>
                  <a:srgbClr val="48CAE4"/>
                </a:solidFill>
                <a:latin typeface="Calibri"/>
              </a:rPr>
              <a:t>Aliyaa</a:t>
            </a:r>
            <a:endParaRPr sz="1600" b="1" dirty="0">
              <a:solidFill>
                <a:srgbClr val="48CAE4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74320" y="4937760"/>
            <a:ext cx="5852160" cy="164592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26" name="Rectangle 25"/>
          <p:cNvSpPr/>
          <p:nvPr/>
        </p:nvSpPr>
        <p:spPr>
          <a:xfrm>
            <a:off x="274320" y="4937760"/>
            <a:ext cx="914400" cy="1645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25880" y="5029200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600" b="1" dirty="0">
                <a:solidFill>
                  <a:srgbClr val="FF6B6B"/>
                </a:solidFill>
                <a:latin typeface="Calibri"/>
              </a:rPr>
              <a:t>Arya Teja</a:t>
            </a:r>
            <a:endParaRPr sz="1600" b="1" dirty="0">
              <a:solidFill>
                <a:srgbClr val="FF6B6B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309359" y="4937760"/>
            <a:ext cx="5852160" cy="1645920"/>
          </a:xfrm>
          <a:prstGeom prst="rect">
            <a:avLst/>
          </a:prstGeom>
          <a:solidFill>
            <a:srgbClr val="0C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59" y="4937760"/>
            <a:ext cx="914400" cy="16459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60919" y="5029200"/>
            <a:ext cx="4663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 err="1">
                <a:solidFill>
                  <a:srgbClr val="BB86FC"/>
                </a:solidFill>
              </a:rPr>
              <a:t>Tanmyee</a:t>
            </a:r>
            <a:r>
              <a:rPr lang="en-IN" sz="1600" b="1" dirty="0">
                <a:solidFill>
                  <a:srgbClr val="BB86FC"/>
                </a:solidFill>
              </a:rPr>
              <a:t> </a:t>
            </a:r>
            <a:r>
              <a:rPr lang="en-IN" sz="1600" b="1" dirty="0" err="1">
                <a:solidFill>
                  <a:srgbClr val="BB86FC"/>
                </a:solidFill>
              </a:rPr>
              <a:t>Chandajkar</a:t>
            </a:r>
            <a:endParaRPr sz="1600" b="1" dirty="0">
              <a:solidFill>
                <a:srgbClr val="BB86FC"/>
              </a:solidFill>
              <a:latin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464D44-D8DF-CAB2-68E5-8C752F4B20D6}"/>
              </a:ext>
            </a:extLst>
          </p:cNvPr>
          <p:cNvSpPr txBox="1"/>
          <p:nvPr/>
        </p:nvSpPr>
        <p:spPr>
          <a:xfrm>
            <a:off x="1371599" y="3563278"/>
            <a:ext cx="46634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B0C4DE"/>
                </a:solidFill>
              </a:rPr>
              <a:t>Logistic regression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B0C4DE"/>
                </a:solidFill>
              </a:rPr>
              <a:t>Random forest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B0C4DE"/>
                </a:solidFill>
              </a:rPr>
              <a:t>Gradient boosting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B0C4DE"/>
                </a:solidFill>
              </a:rPr>
              <a:t>Front end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53A0E3-C0B5-CAF4-644E-94047A15F92B}"/>
              </a:ext>
            </a:extLst>
          </p:cNvPr>
          <p:cNvSpPr txBox="1"/>
          <p:nvPr/>
        </p:nvSpPr>
        <p:spPr>
          <a:xfrm>
            <a:off x="7556827" y="3599825"/>
            <a:ext cx="46634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B0C4DE"/>
                </a:solidFill>
              </a:rPr>
              <a:t>Future scopes and next steps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B0C4DE"/>
                </a:solidFill>
              </a:rPr>
              <a:t>Project analysis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B0C4DE"/>
                </a:solidFill>
              </a:rPr>
              <a:t>Front end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F2EBF8-BE99-5995-65F4-7C91BD3BDCC9}"/>
              </a:ext>
            </a:extLst>
          </p:cNvPr>
          <p:cNvSpPr txBox="1"/>
          <p:nvPr/>
        </p:nvSpPr>
        <p:spPr>
          <a:xfrm>
            <a:off x="7556827" y="5367754"/>
            <a:ext cx="4663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B0C4DE"/>
                </a:solidFill>
              </a:rPr>
              <a:t>Desicion</a:t>
            </a:r>
            <a:r>
              <a:rPr lang="en-US" sz="1600" dirty="0">
                <a:solidFill>
                  <a:srgbClr val="B0C4DE"/>
                </a:solidFill>
              </a:rPr>
              <a:t> Trees code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rgbClr val="B0C4DE"/>
                </a:solidFill>
              </a:rPr>
              <a:t>Xgboost</a:t>
            </a:r>
            <a:r>
              <a:rPr lang="en-IN" sz="1600" dirty="0">
                <a:solidFill>
                  <a:srgbClr val="B0C4DE"/>
                </a:solidFill>
              </a:rPr>
              <a:t> code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1C71BEF-FA7F-72D2-7ABD-EEB1E9A896ED}"/>
              </a:ext>
            </a:extLst>
          </p:cNvPr>
          <p:cNvSpPr txBox="1"/>
          <p:nvPr/>
        </p:nvSpPr>
        <p:spPr>
          <a:xfrm>
            <a:off x="1325880" y="5313551"/>
            <a:ext cx="4663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B0C4DE"/>
                </a:solidFill>
              </a:rPr>
              <a:t>Mile stone 2 ppt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B0C4DE"/>
                </a:solidFill>
              </a:rPr>
              <a:t>roc curve and confusion matrix(Random Forest)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A08755-DF44-350A-8015-8C4A8C5C932B}"/>
              </a:ext>
            </a:extLst>
          </p:cNvPr>
          <p:cNvSpPr txBox="1"/>
          <p:nvPr/>
        </p:nvSpPr>
        <p:spPr>
          <a:xfrm>
            <a:off x="7498079" y="1664434"/>
            <a:ext cx="4663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B0C4DE"/>
                </a:solidFill>
              </a:rPr>
              <a:t>SVM Code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B0C4D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11480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4D8"/>
                </a:solidFill>
                <a:latin typeface="Calibri"/>
              </a:rPr>
              <a:t>AI-Based Predictive Maintenance &amp; Process Intelligence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0C4DE"/>
                </a:solidFill>
                <a:latin typeface="Calibri"/>
              </a:rPr>
              <a:t>Infosys Internship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3896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>
                <a:solidFill>
                  <a:srgbClr val="B0C4DE"/>
                </a:solidFill>
                <a:latin typeface="Calibri"/>
              </a:rPr>
              <a:t>Questions &amp;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1107</Words>
  <Application>Microsoft Office PowerPoint</Application>
  <PresentationFormat>Custom</PresentationFormat>
  <Paragraphs>218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 Narrow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GOPISETTI PRUDHVI-[CB.SC.U4AIE23027]</cp:lastModifiedBy>
  <cp:revision>4</cp:revision>
  <dcterms:created xsi:type="dcterms:W3CDTF">2013-01-27T09:14:16Z</dcterms:created>
  <dcterms:modified xsi:type="dcterms:W3CDTF">2026-08-13T13:26:46Z</dcterms:modified>
  <cp:category/>
</cp:coreProperties>
</file>